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Sifonn" charset="1" panose="00000000000000000000"/>
      <p:regular r:id="rId25"/>
    </p:embeddedFont>
    <p:embeddedFont>
      <p:font typeface="Canva Sans" charset="1" panose="020B0503030501040103"/>
      <p:regular r:id="rId26"/>
    </p:embeddedFont>
    <p:embeddedFont>
      <p:font typeface="Blogger" charset="1" panose="02000506030000020004"/>
      <p:regular r:id="rId27"/>
    </p:embeddedFont>
    <p:embeddedFont>
      <p:font typeface="Blogger Bold" charset="1" panose="020005060300000200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4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2" t="0" r="-125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32024" y="5473445"/>
            <a:ext cx="11223952" cy="160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5"/>
              </a:lnSpc>
            </a:pPr>
            <a:r>
              <a:rPr lang="en-US" b="true" sz="43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Exploratory Data Analysis of Geeks for Geeks Interview Problems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150787" y="7865665"/>
            <a:ext cx="4290860" cy="208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5"/>
              </a:lnSpc>
            </a:pPr>
            <a:r>
              <a:rPr lang="en-US" sz="384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Presented By :</a:t>
            </a:r>
          </a:p>
          <a:p>
            <a:pPr algn="l">
              <a:lnSpc>
                <a:spcPts val="5385"/>
              </a:lnSpc>
            </a:pPr>
            <a:r>
              <a:rPr lang="en-US" sz="384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D. Vishnu Vardhan </a:t>
            </a:r>
          </a:p>
          <a:p>
            <a:pPr algn="l">
              <a:lnSpc>
                <a:spcPts val="5385"/>
              </a:lnSpc>
            </a:pPr>
            <a:r>
              <a:rPr lang="en-US" sz="384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Batch - 435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97803" y="2319680"/>
            <a:ext cx="14092395" cy="5647641"/>
            <a:chOff x="0" y="0"/>
            <a:chExt cx="3711577" cy="14874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11577" cy="1487444"/>
            </a:xfrm>
            <a:custGeom>
              <a:avLst/>
              <a:gdLst/>
              <a:ahLst/>
              <a:cxnLst/>
              <a:rect r="r" b="b" t="t" l="l"/>
              <a:pathLst>
                <a:path h="1487444" w="3711577">
                  <a:moveTo>
                    <a:pt x="54937" y="0"/>
                  </a:moveTo>
                  <a:lnTo>
                    <a:pt x="3656640" y="0"/>
                  </a:lnTo>
                  <a:cubicBezTo>
                    <a:pt x="3671211" y="0"/>
                    <a:pt x="3685184" y="5788"/>
                    <a:pt x="3695487" y="16091"/>
                  </a:cubicBezTo>
                  <a:cubicBezTo>
                    <a:pt x="3705789" y="26393"/>
                    <a:pt x="3711577" y="40367"/>
                    <a:pt x="3711577" y="54937"/>
                  </a:cubicBezTo>
                  <a:lnTo>
                    <a:pt x="3711577" y="1432508"/>
                  </a:lnTo>
                  <a:cubicBezTo>
                    <a:pt x="3711577" y="1462848"/>
                    <a:pt x="3686981" y="1487444"/>
                    <a:pt x="3656640" y="1487444"/>
                  </a:cubicBezTo>
                  <a:lnTo>
                    <a:pt x="54937" y="1487444"/>
                  </a:lnTo>
                  <a:cubicBezTo>
                    <a:pt x="24596" y="1487444"/>
                    <a:pt x="0" y="1462848"/>
                    <a:pt x="0" y="1432508"/>
                  </a:cubicBezTo>
                  <a:lnTo>
                    <a:pt x="0" y="54937"/>
                  </a:lnTo>
                  <a:cubicBezTo>
                    <a:pt x="0" y="24596"/>
                    <a:pt x="24596" y="0"/>
                    <a:pt x="54937" y="0"/>
                  </a:cubicBezTo>
                  <a:close/>
                </a:path>
              </a:pathLst>
            </a:custGeom>
            <a:solidFill>
              <a:srgbClr val="414141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11577" cy="1525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2" r="0" b="-12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389146"/>
            <a:ext cx="2810489" cy="2560100"/>
          </a:xfrm>
          <a:custGeom>
            <a:avLst/>
            <a:gdLst/>
            <a:ahLst/>
            <a:cxnLst/>
            <a:rect r="r" b="b" t="t" l="l"/>
            <a:pathLst>
              <a:path h="2560100" w="2810489">
                <a:moveTo>
                  <a:pt x="0" y="0"/>
                </a:moveTo>
                <a:lnTo>
                  <a:pt x="2810489" y="0"/>
                </a:lnTo>
                <a:lnTo>
                  <a:pt x="2810489" y="2560100"/>
                </a:lnTo>
                <a:lnTo>
                  <a:pt x="0" y="2560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04990" y="3025446"/>
            <a:ext cx="13878020" cy="4312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2"/>
              </a:lnSpc>
            </a:pPr>
            <a:r>
              <a:rPr lang="en-US" sz="10064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Data-Driven Analysis of Interview Preparation Problems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196158"/>
            <a:ext cx="16230600" cy="7508801"/>
            <a:chOff x="0" y="0"/>
            <a:chExt cx="6570857" cy="30398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70857" cy="3039891"/>
            </a:xfrm>
            <a:custGeom>
              <a:avLst/>
              <a:gdLst/>
              <a:ahLst/>
              <a:cxnLst/>
              <a:rect r="r" b="b" t="t" l="l"/>
              <a:pathLst>
                <a:path h="3039891" w="6570857">
                  <a:moveTo>
                    <a:pt x="28620" y="0"/>
                  </a:moveTo>
                  <a:lnTo>
                    <a:pt x="6542237" y="0"/>
                  </a:lnTo>
                  <a:cubicBezTo>
                    <a:pt x="6558044" y="0"/>
                    <a:pt x="6570857" y="12813"/>
                    <a:pt x="6570857" y="28620"/>
                  </a:cubicBezTo>
                  <a:lnTo>
                    <a:pt x="6570857" y="3011272"/>
                  </a:lnTo>
                  <a:cubicBezTo>
                    <a:pt x="6570857" y="3027078"/>
                    <a:pt x="6558044" y="3039891"/>
                    <a:pt x="6542237" y="3039891"/>
                  </a:cubicBezTo>
                  <a:lnTo>
                    <a:pt x="28620" y="3039891"/>
                  </a:lnTo>
                  <a:cubicBezTo>
                    <a:pt x="12813" y="3039891"/>
                    <a:pt x="0" y="3027078"/>
                    <a:pt x="0" y="301127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84AF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570857" cy="3077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41435"/>
            <a:ext cx="6266693" cy="2030864"/>
            <a:chOff x="0" y="0"/>
            <a:chExt cx="1650487" cy="5348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0487" cy="534878"/>
            </a:xfrm>
            <a:custGeom>
              <a:avLst/>
              <a:gdLst/>
              <a:ahLst/>
              <a:cxnLst/>
              <a:rect r="r" b="b" t="t" l="l"/>
              <a:pathLst>
                <a:path h="534878" w="1650487">
                  <a:moveTo>
                    <a:pt x="123541" y="0"/>
                  </a:moveTo>
                  <a:lnTo>
                    <a:pt x="1526946" y="0"/>
                  </a:lnTo>
                  <a:cubicBezTo>
                    <a:pt x="1559711" y="0"/>
                    <a:pt x="1591134" y="13016"/>
                    <a:pt x="1614303" y="36184"/>
                  </a:cubicBezTo>
                  <a:cubicBezTo>
                    <a:pt x="1637471" y="59353"/>
                    <a:pt x="1650487" y="90776"/>
                    <a:pt x="1650487" y="123541"/>
                  </a:cubicBezTo>
                  <a:lnTo>
                    <a:pt x="1650487" y="411337"/>
                  </a:lnTo>
                  <a:cubicBezTo>
                    <a:pt x="1650487" y="444102"/>
                    <a:pt x="1637471" y="475525"/>
                    <a:pt x="1614303" y="498694"/>
                  </a:cubicBezTo>
                  <a:cubicBezTo>
                    <a:pt x="1591134" y="521862"/>
                    <a:pt x="1559711" y="534878"/>
                    <a:pt x="1526946" y="534878"/>
                  </a:cubicBezTo>
                  <a:lnTo>
                    <a:pt x="123541" y="534878"/>
                  </a:lnTo>
                  <a:cubicBezTo>
                    <a:pt x="90776" y="534878"/>
                    <a:pt x="59353" y="521862"/>
                    <a:pt x="36184" y="498694"/>
                  </a:cubicBezTo>
                  <a:cubicBezTo>
                    <a:pt x="13016" y="475525"/>
                    <a:pt x="0" y="444102"/>
                    <a:pt x="0" y="411337"/>
                  </a:cubicBezTo>
                  <a:lnTo>
                    <a:pt x="0" y="123541"/>
                  </a:lnTo>
                  <a:cubicBezTo>
                    <a:pt x="0" y="90776"/>
                    <a:pt x="13016" y="59353"/>
                    <a:pt x="36184" y="36184"/>
                  </a:cubicBezTo>
                  <a:cubicBezTo>
                    <a:pt x="59353" y="13016"/>
                    <a:pt x="90776" y="0"/>
                    <a:pt x="123541" y="0"/>
                  </a:cubicBezTo>
                  <a:close/>
                </a:path>
              </a:pathLst>
            </a:custGeom>
            <a:solidFill>
              <a:srgbClr val="414141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50487" cy="572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10464" y="839647"/>
            <a:ext cx="5503165" cy="13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900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AGENDA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2" r="0" b="-12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10464" y="2505688"/>
            <a:ext cx="9434696" cy="683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3543" indent="-416771" lvl="1">
              <a:lnSpc>
                <a:spcPts val="5405"/>
              </a:lnSpc>
              <a:buAutoNum type="arabicPeriod" startAt="1"/>
            </a:pPr>
            <a:r>
              <a:rPr lang="en-US" sz="38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BUSINESS PROBLEM</a:t>
            </a:r>
          </a:p>
          <a:p>
            <a:pPr algn="l" marL="833543" indent="-416771" lvl="1">
              <a:lnSpc>
                <a:spcPts val="5405"/>
              </a:lnSpc>
              <a:buAutoNum type="arabicPeriod" startAt="1"/>
            </a:pPr>
            <a:r>
              <a:rPr lang="en-US" sz="38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BUSINESS OBJECTIVE </a:t>
            </a:r>
          </a:p>
          <a:p>
            <a:pPr algn="l" marL="833543" indent="-416771" lvl="1">
              <a:lnSpc>
                <a:spcPts val="5405"/>
              </a:lnSpc>
              <a:buAutoNum type="arabicPeriod" startAt="1"/>
            </a:pPr>
            <a:r>
              <a:rPr lang="en-US" sz="38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INTRODUCTION</a:t>
            </a:r>
          </a:p>
          <a:p>
            <a:pPr algn="l" marL="833543" indent="-416771" lvl="1">
              <a:lnSpc>
                <a:spcPts val="5405"/>
              </a:lnSpc>
              <a:buAutoNum type="arabicPeriod" startAt="1"/>
            </a:pPr>
            <a:r>
              <a:rPr lang="en-US" sz="38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DATA COLLECTION &amp; OVERVIEW</a:t>
            </a:r>
          </a:p>
          <a:p>
            <a:pPr algn="l" marL="833543" indent="-416771" lvl="1">
              <a:lnSpc>
                <a:spcPts val="5405"/>
              </a:lnSpc>
              <a:buAutoNum type="arabicPeriod" startAt="1"/>
            </a:pPr>
            <a:r>
              <a:rPr lang="en-US" sz="38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DATA PREPROCESSING</a:t>
            </a:r>
          </a:p>
          <a:p>
            <a:pPr algn="l" marL="833543" indent="-416771" lvl="1">
              <a:lnSpc>
                <a:spcPts val="5405"/>
              </a:lnSpc>
              <a:buAutoNum type="arabicPeriod" startAt="1"/>
            </a:pPr>
            <a:r>
              <a:rPr lang="en-US" sz="38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EXPLORATORY DATA ANALYSIS</a:t>
            </a:r>
          </a:p>
          <a:p>
            <a:pPr algn="l" marL="833543" indent="-416771" lvl="1">
              <a:lnSpc>
                <a:spcPts val="5405"/>
              </a:lnSpc>
              <a:buAutoNum type="arabicPeriod" startAt="1"/>
            </a:pPr>
            <a:r>
              <a:rPr lang="en-US" sz="38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HYPOTHESIS TESTING</a:t>
            </a:r>
          </a:p>
          <a:p>
            <a:pPr algn="l" marL="833543" indent="-416771" lvl="1">
              <a:lnSpc>
                <a:spcPts val="5405"/>
              </a:lnSpc>
              <a:buAutoNum type="arabicPeriod" startAt="1"/>
            </a:pPr>
            <a:r>
              <a:rPr lang="en-US" sz="38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INSIGHTS</a:t>
            </a:r>
          </a:p>
          <a:p>
            <a:pPr algn="l" marL="833543" indent="-416771" lvl="1">
              <a:lnSpc>
                <a:spcPts val="5405"/>
              </a:lnSpc>
              <a:buAutoNum type="arabicPeriod" startAt="1"/>
            </a:pPr>
            <a:r>
              <a:rPr lang="en-US" sz="38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RECOMMENDATIONS</a:t>
            </a:r>
          </a:p>
          <a:p>
            <a:pPr algn="l" marL="833543" indent="-416771" lvl="1">
              <a:lnSpc>
                <a:spcPts val="5405"/>
              </a:lnSpc>
              <a:buAutoNum type="arabicPeriod" startAt="1"/>
            </a:pPr>
            <a:r>
              <a:rPr lang="en-US" sz="38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CONCLUSION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196158"/>
            <a:ext cx="16230600" cy="6845596"/>
            <a:chOff x="0" y="0"/>
            <a:chExt cx="6570857" cy="27713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70857" cy="2771397"/>
            </a:xfrm>
            <a:custGeom>
              <a:avLst/>
              <a:gdLst/>
              <a:ahLst/>
              <a:cxnLst/>
              <a:rect r="r" b="b" t="t" l="l"/>
              <a:pathLst>
                <a:path h="2771397" w="6570857">
                  <a:moveTo>
                    <a:pt x="28620" y="0"/>
                  </a:moveTo>
                  <a:lnTo>
                    <a:pt x="6542237" y="0"/>
                  </a:lnTo>
                  <a:cubicBezTo>
                    <a:pt x="6558044" y="0"/>
                    <a:pt x="6570857" y="12813"/>
                    <a:pt x="6570857" y="28620"/>
                  </a:cubicBezTo>
                  <a:lnTo>
                    <a:pt x="6570857" y="2742777"/>
                  </a:lnTo>
                  <a:cubicBezTo>
                    <a:pt x="6570857" y="2758584"/>
                    <a:pt x="6558044" y="2771397"/>
                    <a:pt x="6542237" y="2771397"/>
                  </a:cubicBezTo>
                  <a:lnTo>
                    <a:pt x="28620" y="2771397"/>
                  </a:lnTo>
                  <a:cubicBezTo>
                    <a:pt x="12813" y="2771397"/>
                    <a:pt x="0" y="2758584"/>
                    <a:pt x="0" y="2742777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84AF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570857" cy="2809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919419" y="634901"/>
            <a:ext cx="12449162" cy="2307005"/>
            <a:chOff x="0" y="0"/>
            <a:chExt cx="3278792" cy="607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78792" cy="607606"/>
            </a:xfrm>
            <a:custGeom>
              <a:avLst/>
              <a:gdLst/>
              <a:ahLst/>
              <a:cxnLst/>
              <a:rect r="r" b="b" t="t" l="l"/>
              <a:pathLst>
                <a:path h="607606" w="3278792">
                  <a:moveTo>
                    <a:pt x="62188" y="0"/>
                  </a:moveTo>
                  <a:lnTo>
                    <a:pt x="3216603" y="0"/>
                  </a:lnTo>
                  <a:cubicBezTo>
                    <a:pt x="3250949" y="0"/>
                    <a:pt x="3278792" y="27843"/>
                    <a:pt x="3278792" y="62188"/>
                  </a:cubicBezTo>
                  <a:lnTo>
                    <a:pt x="3278792" y="545418"/>
                  </a:lnTo>
                  <a:cubicBezTo>
                    <a:pt x="3278792" y="561911"/>
                    <a:pt x="3272240" y="577729"/>
                    <a:pt x="3260577" y="589392"/>
                  </a:cubicBezTo>
                  <a:cubicBezTo>
                    <a:pt x="3248915" y="601054"/>
                    <a:pt x="3233097" y="607606"/>
                    <a:pt x="3216603" y="607606"/>
                  </a:cubicBezTo>
                  <a:lnTo>
                    <a:pt x="62188" y="607606"/>
                  </a:lnTo>
                  <a:cubicBezTo>
                    <a:pt x="45695" y="607606"/>
                    <a:pt x="29877" y="601054"/>
                    <a:pt x="18215" y="589392"/>
                  </a:cubicBezTo>
                  <a:cubicBezTo>
                    <a:pt x="6552" y="577729"/>
                    <a:pt x="0" y="561911"/>
                    <a:pt x="0" y="545418"/>
                  </a:cubicBezTo>
                  <a:lnTo>
                    <a:pt x="0" y="62188"/>
                  </a:lnTo>
                  <a:cubicBezTo>
                    <a:pt x="0" y="27843"/>
                    <a:pt x="27843" y="0"/>
                    <a:pt x="62188" y="0"/>
                  </a:cubicBezTo>
                  <a:close/>
                </a:path>
              </a:pathLst>
            </a:custGeom>
            <a:solidFill>
              <a:srgbClr val="414141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278792" cy="645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4894741" y="7832135"/>
            <a:ext cx="947680" cy="967020"/>
          </a:xfrm>
          <a:custGeom>
            <a:avLst/>
            <a:gdLst/>
            <a:ahLst/>
            <a:cxnLst/>
            <a:rect r="r" b="b" t="t" l="l"/>
            <a:pathLst>
              <a:path h="967020" w="947680">
                <a:moveTo>
                  <a:pt x="0" y="967020"/>
                </a:moveTo>
                <a:lnTo>
                  <a:pt x="947680" y="967020"/>
                </a:lnTo>
                <a:lnTo>
                  <a:pt x="947680" y="0"/>
                </a:lnTo>
                <a:lnTo>
                  <a:pt x="0" y="0"/>
                </a:lnTo>
                <a:lnTo>
                  <a:pt x="0" y="96702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98805" y="3176566"/>
            <a:ext cx="13069776" cy="608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0527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A coaching institute that prepares students for technical and data-related roles faces difficulty in structuring an effective interview preparation curriculum.</a:t>
            </a:r>
          </a:p>
          <a:p>
            <a:pPr algn="l" marL="830527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The absence of a data-driven curriculum makes it hard to align training with real interview difficulty and company expectations.</a:t>
            </a:r>
          </a:p>
          <a:p>
            <a:pPr algn="l" marL="830527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This leads to inefficient preparation and lower student placement readiness.</a:t>
            </a:r>
          </a:p>
          <a:p>
            <a:pPr algn="l">
              <a:lnSpc>
                <a:spcPts val="538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216805" y="1171184"/>
            <a:ext cx="13854390" cy="13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900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BUSINESS PROBLEM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1495580" y="2798060"/>
            <a:ext cx="947230" cy="966561"/>
          </a:xfrm>
          <a:custGeom>
            <a:avLst/>
            <a:gdLst/>
            <a:ahLst/>
            <a:cxnLst/>
            <a:rect r="r" b="b" t="t" l="l"/>
            <a:pathLst>
              <a:path h="966561" w="947230">
                <a:moveTo>
                  <a:pt x="947229" y="0"/>
                </a:moveTo>
                <a:lnTo>
                  <a:pt x="0" y="0"/>
                </a:lnTo>
                <a:lnTo>
                  <a:pt x="0" y="966561"/>
                </a:lnTo>
                <a:lnTo>
                  <a:pt x="947229" y="966561"/>
                </a:lnTo>
                <a:lnTo>
                  <a:pt x="9472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2" r="0" b="-121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196158"/>
            <a:ext cx="16230600" cy="6845596"/>
            <a:chOff x="0" y="0"/>
            <a:chExt cx="6570857" cy="27713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70857" cy="2771397"/>
            </a:xfrm>
            <a:custGeom>
              <a:avLst/>
              <a:gdLst/>
              <a:ahLst/>
              <a:cxnLst/>
              <a:rect r="r" b="b" t="t" l="l"/>
              <a:pathLst>
                <a:path h="2771397" w="6570857">
                  <a:moveTo>
                    <a:pt x="28620" y="0"/>
                  </a:moveTo>
                  <a:lnTo>
                    <a:pt x="6542237" y="0"/>
                  </a:lnTo>
                  <a:cubicBezTo>
                    <a:pt x="6558044" y="0"/>
                    <a:pt x="6570857" y="12813"/>
                    <a:pt x="6570857" y="28620"/>
                  </a:cubicBezTo>
                  <a:lnTo>
                    <a:pt x="6570857" y="2742777"/>
                  </a:lnTo>
                  <a:cubicBezTo>
                    <a:pt x="6570857" y="2758584"/>
                    <a:pt x="6558044" y="2771397"/>
                    <a:pt x="6542237" y="2771397"/>
                  </a:cubicBezTo>
                  <a:lnTo>
                    <a:pt x="28620" y="2771397"/>
                  </a:lnTo>
                  <a:cubicBezTo>
                    <a:pt x="12813" y="2771397"/>
                    <a:pt x="0" y="2758584"/>
                    <a:pt x="0" y="2742777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84AF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570857" cy="2809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44194" y="634901"/>
            <a:ext cx="13399611" cy="2307005"/>
            <a:chOff x="0" y="0"/>
            <a:chExt cx="3529116" cy="607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29116" cy="607606"/>
            </a:xfrm>
            <a:custGeom>
              <a:avLst/>
              <a:gdLst/>
              <a:ahLst/>
              <a:cxnLst/>
              <a:rect r="r" b="b" t="t" l="l"/>
              <a:pathLst>
                <a:path h="607606" w="3529116">
                  <a:moveTo>
                    <a:pt x="57777" y="0"/>
                  </a:moveTo>
                  <a:lnTo>
                    <a:pt x="3471339" y="0"/>
                  </a:lnTo>
                  <a:cubicBezTo>
                    <a:pt x="3486662" y="0"/>
                    <a:pt x="3501358" y="6087"/>
                    <a:pt x="3512193" y="16923"/>
                  </a:cubicBezTo>
                  <a:cubicBezTo>
                    <a:pt x="3523028" y="27758"/>
                    <a:pt x="3529116" y="42454"/>
                    <a:pt x="3529116" y="57777"/>
                  </a:cubicBezTo>
                  <a:lnTo>
                    <a:pt x="3529116" y="549829"/>
                  </a:lnTo>
                  <a:cubicBezTo>
                    <a:pt x="3529116" y="581739"/>
                    <a:pt x="3503248" y="607606"/>
                    <a:pt x="3471339" y="607606"/>
                  </a:cubicBezTo>
                  <a:lnTo>
                    <a:pt x="57777" y="607606"/>
                  </a:lnTo>
                  <a:cubicBezTo>
                    <a:pt x="25868" y="607606"/>
                    <a:pt x="0" y="581739"/>
                    <a:pt x="0" y="549829"/>
                  </a:cubicBezTo>
                  <a:lnTo>
                    <a:pt x="0" y="57777"/>
                  </a:lnTo>
                  <a:cubicBezTo>
                    <a:pt x="0" y="25868"/>
                    <a:pt x="25868" y="0"/>
                    <a:pt x="57777" y="0"/>
                  </a:cubicBezTo>
                  <a:close/>
                </a:path>
              </a:pathLst>
            </a:custGeom>
            <a:solidFill>
              <a:srgbClr val="414141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529116" cy="645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4894741" y="7832135"/>
            <a:ext cx="947680" cy="967020"/>
          </a:xfrm>
          <a:custGeom>
            <a:avLst/>
            <a:gdLst/>
            <a:ahLst/>
            <a:cxnLst/>
            <a:rect r="r" b="b" t="t" l="l"/>
            <a:pathLst>
              <a:path h="967020" w="947680">
                <a:moveTo>
                  <a:pt x="0" y="967020"/>
                </a:moveTo>
                <a:lnTo>
                  <a:pt x="947680" y="967020"/>
                </a:lnTo>
                <a:lnTo>
                  <a:pt x="947680" y="0"/>
                </a:lnTo>
                <a:lnTo>
                  <a:pt x="0" y="0"/>
                </a:lnTo>
                <a:lnTo>
                  <a:pt x="0" y="96702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98805" y="3176566"/>
            <a:ext cx="13069776" cy="540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0527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The objective of this project is to analyze interview problems sourced from online coding platforms to identify patterns related to problem difficulty, submission frequency, accuracy, and company association. </a:t>
            </a:r>
          </a:p>
          <a:p>
            <a:pPr algn="l" marL="830527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By performing exploratory data analysis on these problems, the coaching institute aims to prioritize high-impact problems, structure difficulty progression, and align its curriculum with real-world interview expectations.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16805" y="1171184"/>
            <a:ext cx="13854390" cy="13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900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BUSINESS OBJECTIVE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1495580" y="2798060"/>
            <a:ext cx="947230" cy="966561"/>
          </a:xfrm>
          <a:custGeom>
            <a:avLst/>
            <a:gdLst/>
            <a:ahLst/>
            <a:cxnLst/>
            <a:rect r="r" b="b" t="t" l="l"/>
            <a:pathLst>
              <a:path h="966561" w="947230">
                <a:moveTo>
                  <a:pt x="947229" y="0"/>
                </a:moveTo>
                <a:lnTo>
                  <a:pt x="0" y="0"/>
                </a:lnTo>
                <a:lnTo>
                  <a:pt x="0" y="966561"/>
                </a:lnTo>
                <a:lnTo>
                  <a:pt x="947229" y="966561"/>
                </a:lnTo>
                <a:lnTo>
                  <a:pt x="9472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2" r="0" b="-121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196158"/>
            <a:ext cx="16230600" cy="6845596"/>
            <a:chOff x="0" y="0"/>
            <a:chExt cx="6570857" cy="27713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70857" cy="2771397"/>
            </a:xfrm>
            <a:custGeom>
              <a:avLst/>
              <a:gdLst/>
              <a:ahLst/>
              <a:cxnLst/>
              <a:rect r="r" b="b" t="t" l="l"/>
              <a:pathLst>
                <a:path h="2771397" w="6570857">
                  <a:moveTo>
                    <a:pt x="28620" y="0"/>
                  </a:moveTo>
                  <a:lnTo>
                    <a:pt x="6542237" y="0"/>
                  </a:lnTo>
                  <a:cubicBezTo>
                    <a:pt x="6558044" y="0"/>
                    <a:pt x="6570857" y="12813"/>
                    <a:pt x="6570857" y="28620"/>
                  </a:cubicBezTo>
                  <a:lnTo>
                    <a:pt x="6570857" y="2742777"/>
                  </a:lnTo>
                  <a:cubicBezTo>
                    <a:pt x="6570857" y="2758584"/>
                    <a:pt x="6558044" y="2771397"/>
                    <a:pt x="6542237" y="2771397"/>
                  </a:cubicBezTo>
                  <a:lnTo>
                    <a:pt x="28620" y="2771397"/>
                  </a:lnTo>
                  <a:cubicBezTo>
                    <a:pt x="12813" y="2771397"/>
                    <a:pt x="0" y="2758584"/>
                    <a:pt x="0" y="2742777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84AF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570857" cy="2809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53586" y="491055"/>
            <a:ext cx="10580829" cy="2126925"/>
            <a:chOff x="0" y="0"/>
            <a:chExt cx="2786720" cy="5601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6720" cy="560178"/>
            </a:xfrm>
            <a:custGeom>
              <a:avLst/>
              <a:gdLst/>
              <a:ahLst/>
              <a:cxnLst/>
              <a:rect r="r" b="b" t="t" l="l"/>
              <a:pathLst>
                <a:path h="560178" w="2786720">
                  <a:moveTo>
                    <a:pt x="73169" y="0"/>
                  </a:moveTo>
                  <a:lnTo>
                    <a:pt x="2713551" y="0"/>
                  </a:lnTo>
                  <a:cubicBezTo>
                    <a:pt x="2732957" y="0"/>
                    <a:pt x="2751568" y="7709"/>
                    <a:pt x="2765289" y="21431"/>
                  </a:cubicBezTo>
                  <a:cubicBezTo>
                    <a:pt x="2779011" y="35153"/>
                    <a:pt x="2786720" y="53764"/>
                    <a:pt x="2786720" y="73169"/>
                  </a:cubicBezTo>
                  <a:lnTo>
                    <a:pt x="2786720" y="487009"/>
                  </a:lnTo>
                  <a:cubicBezTo>
                    <a:pt x="2786720" y="506414"/>
                    <a:pt x="2779011" y="525025"/>
                    <a:pt x="2765289" y="538747"/>
                  </a:cubicBezTo>
                  <a:cubicBezTo>
                    <a:pt x="2751568" y="552469"/>
                    <a:pt x="2732957" y="560178"/>
                    <a:pt x="2713551" y="560178"/>
                  </a:cubicBezTo>
                  <a:lnTo>
                    <a:pt x="73169" y="560178"/>
                  </a:lnTo>
                  <a:cubicBezTo>
                    <a:pt x="53764" y="560178"/>
                    <a:pt x="35153" y="552469"/>
                    <a:pt x="21431" y="538747"/>
                  </a:cubicBezTo>
                  <a:cubicBezTo>
                    <a:pt x="7709" y="525025"/>
                    <a:pt x="0" y="506414"/>
                    <a:pt x="0" y="487009"/>
                  </a:cubicBezTo>
                  <a:lnTo>
                    <a:pt x="0" y="73169"/>
                  </a:lnTo>
                  <a:cubicBezTo>
                    <a:pt x="0" y="53764"/>
                    <a:pt x="7709" y="35153"/>
                    <a:pt x="21431" y="21431"/>
                  </a:cubicBezTo>
                  <a:cubicBezTo>
                    <a:pt x="35153" y="7709"/>
                    <a:pt x="53764" y="0"/>
                    <a:pt x="73169" y="0"/>
                  </a:cubicBezTo>
                  <a:close/>
                </a:path>
              </a:pathLst>
            </a:custGeom>
            <a:solidFill>
              <a:srgbClr val="414141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86720" cy="598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5722779" y="8074734"/>
            <a:ext cx="947680" cy="967020"/>
          </a:xfrm>
          <a:custGeom>
            <a:avLst/>
            <a:gdLst/>
            <a:ahLst/>
            <a:cxnLst/>
            <a:rect r="r" b="b" t="t" l="l"/>
            <a:pathLst>
              <a:path h="967020" w="947680">
                <a:moveTo>
                  <a:pt x="0" y="967020"/>
                </a:moveTo>
                <a:lnTo>
                  <a:pt x="947680" y="967020"/>
                </a:lnTo>
                <a:lnTo>
                  <a:pt x="947680" y="0"/>
                </a:lnTo>
                <a:lnTo>
                  <a:pt x="0" y="0"/>
                </a:lnTo>
                <a:lnTo>
                  <a:pt x="0" y="96702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91381" y="2693285"/>
            <a:ext cx="14105237" cy="609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Online platforms like </a:t>
            </a:r>
            <a:r>
              <a:rPr lang="en-US" b="true" sz="3846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GeeksforGeeks </a:t>
            </a: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host thousands of coding and problems used by students for technical interview preparation.</a:t>
            </a:r>
          </a:p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These problems vary widely in difficulty, success rate, and relevance to real interview scenarios.</a:t>
            </a:r>
          </a:p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Without analysis, it is difficult to understand practice patterns and learning challenges from such large problem collections.</a:t>
            </a:r>
          </a:p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This project uses problem-level data to gain insights that support structured and informed interview preparation.</a:t>
            </a:r>
          </a:p>
          <a:p>
            <a:pPr algn="l">
              <a:lnSpc>
                <a:spcPts val="538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216805" y="1097633"/>
            <a:ext cx="13854390" cy="13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900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INTRODUCTION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1383030" y="2617980"/>
            <a:ext cx="947230" cy="966561"/>
          </a:xfrm>
          <a:custGeom>
            <a:avLst/>
            <a:gdLst/>
            <a:ahLst/>
            <a:cxnLst/>
            <a:rect r="r" b="b" t="t" l="l"/>
            <a:pathLst>
              <a:path h="966561" w="947230">
                <a:moveTo>
                  <a:pt x="947229" y="0"/>
                </a:moveTo>
                <a:lnTo>
                  <a:pt x="0" y="0"/>
                </a:lnTo>
                <a:lnTo>
                  <a:pt x="0" y="966561"/>
                </a:lnTo>
                <a:lnTo>
                  <a:pt x="947229" y="966561"/>
                </a:lnTo>
                <a:lnTo>
                  <a:pt x="9472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2" r="0" b="-121"/>
              </a:stretch>
            </a:blipFill>
          </p:spPr>
        </p:sp>
      </p:grpSp>
    </p:spTree>
  </p:cSld>
  <p:clrMapOvr>
    <a:masterClrMapping/>
  </p:clrMapOvr>
  <p:transition spd="slow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196158"/>
            <a:ext cx="16230600" cy="6845596"/>
            <a:chOff x="0" y="0"/>
            <a:chExt cx="6570857" cy="27713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70857" cy="2771397"/>
            </a:xfrm>
            <a:custGeom>
              <a:avLst/>
              <a:gdLst/>
              <a:ahLst/>
              <a:cxnLst/>
              <a:rect r="r" b="b" t="t" l="l"/>
              <a:pathLst>
                <a:path h="2771397" w="6570857">
                  <a:moveTo>
                    <a:pt x="28620" y="0"/>
                  </a:moveTo>
                  <a:lnTo>
                    <a:pt x="6542237" y="0"/>
                  </a:lnTo>
                  <a:cubicBezTo>
                    <a:pt x="6558044" y="0"/>
                    <a:pt x="6570857" y="12813"/>
                    <a:pt x="6570857" y="28620"/>
                  </a:cubicBezTo>
                  <a:lnTo>
                    <a:pt x="6570857" y="2742777"/>
                  </a:lnTo>
                  <a:cubicBezTo>
                    <a:pt x="6570857" y="2758584"/>
                    <a:pt x="6558044" y="2771397"/>
                    <a:pt x="6542237" y="2771397"/>
                  </a:cubicBezTo>
                  <a:lnTo>
                    <a:pt x="28620" y="2771397"/>
                  </a:lnTo>
                  <a:cubicBezTo>
                    <a:pt x="12813" y="2771397"/>
                    <a:pt x="0" y="2758584"/>
                    <a:pt x="0" y="2742777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84AF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570857" cy="2809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877625" y="491055"/>
            <a:ext cx="12487730" cy="2126925"/>
            <a:chOff x="0" y="0"/>
            <a:chExt cx="3288949" cy="5601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88949" cy="560178"/>
            </a:xfrm>
            <a:custGeom>
              <a:avLst/>
              <a:gdLst/>
              <a:ahLst/>
              <a:cxnLst/>
              <a:rect r="r" b="b" t="t" l="l"/>
              <a:pathLst>
                <a:path h="560178" w="3288949">
                  <a:moveTo>
                    <a:pt x="61996" y="0"/>
                  </a:moveTo>
                  <a:lnTo>
                    <a:pt x="3226953" y="0"/>
                  </a:lnTo>
                  <a:cubicBezTo>
                    <a:pt x="3261192" y="0"/>
                    <a:pt x="3288949" y="27757"/>
                    <a:pt x="3288949" y="61996"/>
                  </a:cubicBezTo>
                  <a:lnTo>
                    <a:pt x="3288949" y="498182"/>
                  </a:lnTo>
                  <a:cubicBezTo>
                    <a:pt x="3288949" y="514624"/>
                    <a:pt x="3282417" y="530393"/>
                    <a:pt x="3270791" y="542020"/>
                  </a:cubicBezTo>
                  <a:cubicBezTo>
                    <a:pt x="3259165" y="553646"/>
                    <a:pt x="3243395" y="560178"/>
                    <a:pt x="3226953" y="560178"/>
                  </a:cubicBezTo>
                  <a:lnTo>
                    <a:pt x="61996" y="560178"/>
                  </a:lnTo>
                  <a:cubicBezTo>
                    <a:pt x="27757" y="560178"/>
                    <a:pt x="0" y="532421"/>
                    <a:pt x="0" y="498182"/>
                  </a:cubicBezTo>
                  <a:lnTo>
                    <a:pt x="0" y="61996"/>
                  </a:lnTo>
                  <a:cubicBezTo>
                    <a:pt x="0" y="27757"/>
                    <a:pt x="27757" y="0"/>
                    <a:pt x="61996" y="0"/>
                  </a:cubicBezTo>
                  <a:close/>
                </a:path>
              </a:pathLst>
            </a:custGeom>
            <a:solidFill>
              <a:srgbClr val="414141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288949" cy="598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5541570" y="7942771"/>
            <a:ext cx="947680" cy="967020"/>
          </a:xfrm>
          <a:custGeom>
            <a:avLst/>
            <a:gdLst/>
            <a:ahLst/>
            <a:cxnLst/>
            <a:rect r="r" b="b" t="t" l="l"/>
            <a:pathLst>
              <a:path h="967020" w="947680">
                <a:moveTo>
                  <a:pt x="0" y="967020"/>
                </a:moveTo>
                <a:lnTo>
                  <a:pt x="947679" y="967020"/>
                </a:lnTo>
                <a:lnTo>
                  <a:pt x="947679" y="0"/>
                </a:lnTo>
                <a:lnTo>
                  <a:pt x="0" y="0"/>
                </a:lnTo>
                <a:lnTo>
                  <a:pt x="0" y="96702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91381" y="2948213"/>
            <a:ext cx="14397868" cy="609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The dataset was collected from the </a:t>
            </a:r>
            <a:r>
              <a:rPr lang="en-US" b="true" sz="3846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GeeksforGeeks </a:t>
            </a: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Explore – Interview Problems section.</a:t>
            </a:r>
          </a:p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Selenium was used to load dynamic content, and BeautifulSoup was used to parse and extract structured data from the rendered HTML.</a:t>
            </a:r>
          </a:p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Each record represents an individual interview problem along with difficulty level, submissions, accuracy, and company tags.</a:t>
            </a:r>
          </a:p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The final dataset was stored in a structured CSV format for analysis and visualization.</a:t>
            </a:r>
          </a:p>
          <a:p>
            <a:pPr algn="l">
              <a:lnSpc>
                <a:spcPts val="538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216805" y="1013498"/>
            <a:ext cx="13854390" cy="13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900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DATA COLLECTION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1383030" y="2617980"/>
            <a:ext cx="947230" cy="966561"/>
          </a:xfrm>
          <a:custGeom>
            <a:avLst/>
            <a:gdLst/>
            <a:ahLst/>
            <a:cxnLst/>
            <a:rect r="r" b="b" t="t" l="l"/>
            <a:pathLst>
              <a:path h="966561" w="947230">
                <a:moveTo>
                  <a:pt x="947229" y="0"/>
                </a:moveTo>
                <a:lnTo>
                  <a:pt x="0" y="0"/>
                </a:lnTo>
                <a:lnTo>
                  <a:pt x="0" y="966561"/>
                </a:lnTo>
                <a:lnTo>
                  <a:pt x="947229" y="966561"/>
                </a:lnTo>
                <a:lnTo>
                  <a:pt x="9472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2" r="0" b="-121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196158"/>
            <a:ext cx="16230600" cy="6845596"/>
            <a:chOff x="0" y="0"/>
            <a:chExt cx="6570857" cy="27713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70857" cy="2771397"/>
            </a:xfrm>
            <a:custGeom>
              <a:avLst/>
              <a:gdLst/>
              <a:ahLst/>
              <a:cxnLst/>
              <a:rect r="r" b="b" t="t" l="l"/>
              <a:pathLst>
                <a:path h="2771397" w="6570857">
                  <a:moveTo>
                    <a:pt x="28620" y="0"/>
                  </a:moveTo>
                  <a:lnTo>
                    <a:pt x="6542237" y="0"/>
                  </a:lnTo>
                  <a:cubicBezTo>
                    <a:pt x="6558044" y="0"/>
                    <a:pt x="6570857" y="12813"/>
                    <a:pt x="6570857" y="28620"/>
                  </a:cubicBezTo>
                  <a:lnTo>
                    <a:pt x="6570857" y="2742777"/>
                  </a:lnTo>
                  <a:cubicBezTo>
                    <a:pt x="6570857" y="2758584"/>
                    <a:pt x="6558044" y="2771397"/>
                    <a:pt x="6542237" y="2771397"/>
                  </a:cubicBezTo>
                  <a:lnTo>
                    <a:pt x="28620" y="2771397"/>
                  </a:lnTo>
                  <a:cubicBezTo>
                    <a:pt x="12813" y="2771397"/>
                    <a:pt x="0" y="2758584"/>
                    <a:pt x="0" y="2742777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84AF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570857" cy="2809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697545" y="491055"/>
            <a:ext cx="12982951" cy="2126925"/>
            <a:chOff x="0" y="0"/>
            <a:chExt cx="3419378" cy="5601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19378" cy="560178"/>
            </a:xfrm>
            <a:custGeom>
              <a:avLst/>
              <a:gdLst/>
              <a:ahLst/>
              <a:cxnLst/>
              <a:rect r="r" b="b" t="t" l="l"/>
              <a:pathLst>
                <a:path h="560178" w="3419378">
                  <a:moveTo>
                    <a:pt x="59631" y="0"/>
                  </a:moveTo>
                  <a:lnTo>
                    <a:pt x="3359747" y="0"/>
                  </a:lnTo>
                  <a:cubicBezTo>
                    <a:pt x="3375562" y="0"/>
                    <a:pt x="3390729" y="6283"/>
                    <a:pt x="3401913" y="17466"/>
                  </a:cubicBezTo>
                  <a:cubicBezTo>
                    <a:pt x="3413096" y="28649"/>
                    <a:pt x="3419378" y="43816"/>
                    <a:pt x="3419378" y="59631"/>
                  </a:cubicBezTo>
                  <a:lnTo>
                    <a:pt x="3419378" y="500546"/>
                  </a:lnTo>
                  <a:cubicBezTo>
                    <a:pt x="3419378" y="516362"/>
                    <a:pt x="3413096" y="531529"/>
                    <a:pt x="3401913" y="542712"/>
                  </a:cubicBezTo>
                  <a:cubicBezTo>
                    <a:pt x="3390729" y="553895"/>
                    <a:pt x="3375562" y="560178"/>
                    <a:pt x="3359747" y="560178"/>
                  </a:cubicBezTo>
                  <a:lnTo>
                    <a:pt x="59631" y="560178"/>
                  </a:lnTo>
                  <a:cubicBezTo>
                    <a:pt x="43816" y="560178"/>
                    <a:pt x="28649" y="553895"/>
                    <a:pt x="17466" y="542712"/>
                  </a:cubicBezTo>
                  <a:cubicBezTo>
                    <a:pt x="6283" y="531529"/>
                    <a:pt x="0" y="516362"/>
                    <a:pt x="0" y="500546"/>
                  </a:cubicBezTo>
                  <a:lnTo>
                    <a:pt x="0" y="59631"/>
                  </a:lnTo>
                  <a:cubicBezTo>
                    <a:pt x="0" y="43816"/>
                    <a:pt x="6283" y="28649"/>
                    <a:pt x="17466" y="17466"/>
                  </a:cubicBezTo>
                  <a:cubicBezTo>
                    <a:pt x="28649" y="6283"/>
                    <a:pt x="43816" y="0"/>
                    <a:pt x="59631" y="0"/>
                  </a:cubicBezTo>
                  <a:close/>
                </a:path>
              </a:pathLst>
            </a:custGeom>
            <a:solidFill>
              <a:srgbClr val="414141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19378" cy="598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4597277" y="7446731"/>
            <a:ext cx="947680" cy="967020"/>
          </a:xfrm>
          <a:custGeom>
            <a:avLst/>
            <a:gdLst/>
            <a:ahLst/>
            <a:cxnLst/>
            <a:rect r="r" b="b" t="t" l="l"/>
            <a:pathLst>
              <a:path h="967020" w="947680">
                <a:moveTo>
                  <a:pt x="0" y="967021"/>
                </a:moveTo>
                <a:lnTo>
                  <a:pt x="947680" y="967021"/>
                </a:lnTo>
                <a:lnTo>
                  <a:pt x="947680" y="0"/>
                </a:lnTo>
                <a:lnTo>
                  <a:pt x="0" y="0"/>
                </a:lnTo>
                <a:lnTo>
                  <a:pt x="0" y="96702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91381" y="2996486"/>
            <a:ext cx="13858756" cy="541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b="true" sz="3846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Problem</a:t>
            </a: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: Title of the c</a:t>
            </a: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o</a:t>
            </a: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ding</a:t>
            </a: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 </a:t>
            </a: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or interview problem.</a:t>
            </a:r>
          </a:p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b="true" sz="3846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Difficulty</a:t>
            </a: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: Difficulty level assigned to the problem (Easy, Medium, Hard).</a:t>
            </a:r>
          </a:p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b="true" sz="3846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Submissions</a:t>
            </a: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: Total number of times the problem has been attempted on the website.</a:t>
            </a:r>
          </a:p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b="true" sz="3846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Accuracy</a:t>
            </a: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: Percentage of successful submissions.</a:t>
            </a:r>
          </a:p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b="true" sz="3846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Companies</a:t>
            </a: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: Companies associated with the problem.</a:t>
            </a:r>
          </a:p>
          <a:p>
            <a:pPr algn="l">
              <a:lnSpc>
                <a:spcPts val="5385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1383030" y="2617980"/>
            <a:ext cx="947230" cy="966561"/>
          </a:xfrm>
          <a:custGeom>
            <a:avLst/>
            <a:gdLst/>
            <a:ahLst/>
            <a:cxnLst/>
            <a:rect r="r" b="b" t="t" l="l"/>
            <a:pathLst>
              <a:path h="966561" w="947230">
                <a:moveTo>
                  <a:pt x="947229" y="0"/>
                </a:moveTo>
                <a:lnTo>
                  <a:pt x="0" y="0"/>
                </a:lnTo>
                <a:lnTo>
                  <a:pt x="0" y="966561"/>
                </a:lnTo>
                <a:lnTo>
                  <a:pt x="947229" y="966561"/>
                </a:lnTo>
                <a:lnTo>
                  <a:pt x="9472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16805" y="1031115"/>
            <a:ext cx="13854390" cy="13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900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DATASET OVERVIEW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2" r="0" b="-121"/>
              </a:stretch>
            </a:blipFill>
          </p:spPr>
        </p:sp>
      </p:grpSp>
    </p:spTree>
  </p:cSld>
  <p:clrMapOvr>
    <a:masterClrMapping/>
  </p:clrMapOvr>
  <p:transition spd="slow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196158"/>
            <a:ext cx="16230600" cy="6845596"/>
            <a:chOff x="0" y="0"/>
            <a:chExt cx="6570857" cy="27713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70857" cy="2771397"/>
            </a:xfrm>
            <a:custGeom>
              <a:avLst/>
              <a:gdLst/>
              <a:ahLst/>
              <a:cxnLst/>
              <a:rect r="r" b="b" t="t" l="l"/>
              <a:pathLst>
                <a:path h="2771397" w="6570857">
                  <a:moveTo>
                    <a:pt x="28620" y="0"/>
                  </a:moveTo>
                  <a:lnTo>
                    <a:pt x="6542237" y="0"/>
                  </a:lnTo>
                  <a:cubicBezTo>
                    <a:pt x="6558044" y="0"/>
                    <a:pt x="6570857" y="12813"/>
                    <a:pt x="6570857" y="28620"/>
                  </a:cubicBezTo>
                  <a:lnTo>
                    <a:pt x="6570857" y="2742777"/>
                  </a:lnTo>
                  <a:cubicBezTo>
                    <a:pt x="6570857" y="2758584"/>
                    <a:pt x="6558044" y="2771397"/>
                    <a:pt x="6542237" y="2771397"/>
                  </a:cubicBezTo>
                  <a:lnTo>
                    <a:pt x="28620" y="2771397"/>
                  </a:lnTo>
                  <a:cubicBezTo>
                    <a:pt x="12813" y="2771397"/>
                    <a:pt x="0" y="2758584"/>
                    <a:pt x="0" y="2742777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84AF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570857" cy="2809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30259" y="386280"/>
            <a:ext cx="13619878" cy="1969355"/>
            <a:chOff x="0" y="0"/>
            <a:chExt cx="3587128" cy="5186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87128" cy="518678"/>
            </a:xfrm>
            <a:custGeom>
              <a:avLst/>
              <a:gdLst/>
              <a:ahLst/>
              <a:cxnLst/>
              <a:rect r="r" b="b" t="t" l="l"/>
              <a:pathLst>
                <a:path h="518678" w="3587128">
                  <a:moveTo>
                    <a:pt x="56843" y="0"/>
                  </a:moveTo>
                  <a:lnTo>
                    <a:pt x="3530286" y="0"/>
                  </a:lnTo>
                  <a:cubicBezTo>
                    <a:pt x="3561679" y="0"/>
                    <a:pt x="3587128" y="25449"/>
                    <a:pt x="3587128" y="56843"/>
                  </a:cubicBezTo>
                  <a:lnTo>
                    <a:pt x="3587128" y="461835"/>
                  </a:lnTo>
                  <a:cubicBezTo>
                    <a:pt x="3587128" y="493228"/>
                    <a:pt x="3561679" y="518678"/>
                    <a:pt x="3530286" y="518678"/>
                  </a:cubicBezTo>
                  <a:lnTo>
                    <a:pt x="56843" y="518678"/>
                  </a:lnTo>
                  <a:cubicBezTo>
                    <a:pt x="25449" y="518678"/>
                    <a:pt x="0" y="493228"/>
                    <a:pt x="0" y="461835"/>
                  </a:cubicBezTo>
                  <a:lnTo>
                    <a:pt x="0" y="56843"/>
                  </a:lnTo>
                  <a:cubicBezTo>
                    <a:pt x="0" y="25449"/>
                    <a:pt x="25449" y="0"/>
                    <a:pt x="56843" y="0"/>
                  </a:cubicBezTo>
                  <a:close/>
                </a:path>
              </a:pathLst>
            </a:custGeom>
            <a:solidFill>
              <a:srgbClr val="414141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587128" cy="55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4597277" y="7446731"/>
            <a:ext cx="947680" cy="967020"/>
          </a:xfrm>
          <a:custGeom>
            <a:avLst/>
            <a:gdLst/>
            <a:ahLst/>
            <a:cxnLst/>
            <a:rect r="r" b="b" t="t" l="l"/>
            <a:pathLst>
              <a:path h="967020" w="947680">
                <a:moveTo>
                  <a:pt x="0" y="967021"/>
                </a:moveTo>
                <a:lnTo>
                  <a:pt x="947680" y="967021"/>
                </a:lnTo>
                <a:lnTo>
                  <a:pt x="947680" y="0"/>
                </a:lnTo>
                <a:lnTo>
                  <a:pt x="0" y="0"/>
                </a:lnTo>
                <a:lnTo>
                  <a:pt x="0" y="96702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91381" y="2996486"/>
            <a:ext cx="13858756" cy="541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Removed duplicate problem records to avoid repeated analysis.</a:t>
            </a:r>
          </a:p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Converted submission counts to numeric by replacing K / M values with numeric equivalents.</a:t>
            </a:r>
          </a:p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Cleaned accuracy values by removing percentage (%) symbols and converting them to numeric format.</a:t>
            </a:r>
          </a:p>
          <a:p>
            <a:pPr algn="l" marL="830526" indent="-415263" lvl="1">
              <a:lnSpc>
                <a:spcPts val="5385"/>
              </a:lnSpc>
              <a:buFont typeface="Arial"/>
              <a:buChar char="•"/>
            </a:pPr>
            <a:r>
              <a:rPr lang="en-US" sz="3846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Merged the single School difficulty problem into Easy due to insufficient sample size.</a:t>
            </a:r>
          </a:p>
          <a:p>
            <a:pPr algn="l">
              <a:lnSpc>
                <a:spcPts val="5385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1383030" y="2617980"/>
            <a:ext cx="947230" cy="966561"/>
          </a:xfrm>
          <a:custGeom>
            <a:avLst/>
            <a:gdLst/>
            <a:ahLst/>
            <a:cxnLst/>
            <a:rect r="r" b="b" t="t" l="l"/>
            <a:pathLst>
              <a:path h="966561" w="947230">
                <a:moveTo>
                  <a:pt x="947229" y="0"/>
                </a:moveTo>
                <a:lnTo>
                  <a:pt x="0" y="0"/>
                </a:lnTo>
                <a:lnTo>
                  <a:pt x="0" y="966561"/>
                </a:lnTo>
                <a:lnTo>
                  <a:pt x="947229" y="966561"/>
                </a:lnTo>
                <a:lnTo>
                  <a:pt x="9472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98712" y="896930"/>
            <a:ext cx="15690577" cy="116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800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DATA PREPROCESSING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2" r="0" b="-121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196158"/>
            <a:ext cx="16230600" cy="6845596"/>
            <a:chOff x="0" y="0"/>
            <a:chExt cx="6570857" cy="27713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70857" cy="2771397"/>
            </a:xfrm>
            <a:custGeom>
              <a:avLst/>
              <a:gdLst/>
              <a:ahLst/>
              <a:cxnLst/>
              <a:rect r="r" b="b" t="t" l="l"/>
              <a:pathLst>
                <a:path h="2771397" w="6570857">
                  <a:moveTo>
                    <a:pt x="28620" y="0"/>
                  </a:moveTo>
                  <a:lnTo>
                    <a:pt x="6542237" y="0"/>
                  </a:lnTo>
                  <a:cubicBezTo>
                    <a:pt x="6558044" y="0"/>
                    <a:pt x="6570857" y="12813"/>
                    <a:pt x="6570857" y="28620"/>
                  </a:cubicBezTo>
                  <a:lnTo>
                    <a:pt x="6570857" y="2742777"/>
                  </a:lnTo>
                  <a:cubicBezTo>
                    <a:pt x="6570857" y="2758584"/>
                    <a:pt x="6558044" y="2771397"/>
                    <a:pt x="6542237" y="2771397"/>
                  </a:cubicBezTo>
                  <a:lnTo>
                    <a:pt x="28620" y="2771397"/>
                  </a:lnTo>
                  <a:cubicBezTo>
                    <a:pt x="12813" y="2771397"/>
                    <a:pt x="0" y="2758584"/>
                    <a:pt x="0" y="2742777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84AF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570857" cy="2809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56022" y="386280"/>
            <a:ext cx="17574999" cy="1969355"/>
            <a:chOff x="0" y="0"/>
            <a:chExt cx="4628806" cy="5186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28806" cy="518678"/>
            </a:xfrm>
            <a:custGeom>
              <a:avLst/>
              <a:gdLst/>
              <a:ahLst/>
              <a:cxnLst/>
              <a:rect r="r" b="b" t="t" l="l"/>
              <a:pathLst>
                <a:path h="518678" w="4628806">
                  <a:moveTo>
                    <a:pt x="44051" y="0"/>
                  </a:moveTo>
                  <a:lnTo>
                    <a:pt x="4584755" y="0"/>
                  </a:lnTo>
                  <a:cubicBezTo>
                    <a:pt x="4596438" y="0"/>
                    <a:pt x="4607643" y="4641"/>
                    <a:pt x="4615904" y="12902"/>
                  </a:cubicBezTo>
                  <a:cubicBezTo>
                    <a:pt x="4624165" y="21163"/>
                    <a:pt x="4628806" y="32368"/>
                    <a:pt x="4628806" y="44051"/>
                  </a:cubicBezTo>
                  <a:lnTo>
                    <a:pt x="4628806" y="474627"/>
                  </a:lnTo>
                  <a:cubicBezTo>
                    <a:pt x="4628806" y="486310"/>
                    <a:pt x="4624165" y="497515"/>
                    <a:pt x="4615904" y="505776"/>
                  </a:cubicBezTo>
                  <a:cubicBezTo>
                    <a:pt x="4607643" y="514037"/>
                    <a:pt x="4596438" y="518678"/>
                    <a:pt x="4584755" y="518678"/>
                  </a:cubicBezTo>
                  <a:lnTo>
                    <a:pt x="44051" y="518678"/>
                  </a:lnTo>
                  <a:cubicBezTo>
                    <a:pt x="32368" y="518678"/>
                    <a:pt x="21163" y="514037"/>
                    <a:pt x="12902" y="505776"/>
                  </a:cubicBezTo>
                  <a:cubicBezTo>
                    <a:pt x="4641" y="497515"/>
                    <a:pt x="0" y="486310"/>
                    <a:pt x="0" y="474627"/>
                  </a:cubicBezTo>
                  <a:lnTo>
                    <a:pt x="0" y="44051"/>
                  </a:lnTo>
                  <a:cubicBezTo>
                    <a:pt x="0" y="32368"/>
                    <a:pt x="4641" y="21163"/>
                    <a:pt x="12902" y="12902"/>
                  </a:cubicBezTo>
                  <a:cubicBezTo>
                    <a:pt x="21163" y="4641"/>
                    <a:pt x="32368" y="0"/>
                    <a:pt x="44051" y="0"/>
                  </a:cubicBezTo>
                  <a:close/>
                </a:path>
              </a:pathLst>
            </a:custGeom>
            <a:solidFill>
              <a:srgbClr val="414141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628806" cy="55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07348" y="2565884"/>
            <a:ext cx="6280439" cy="6160354"/>
          </a:xfrm>
          <a:custGeom>
            <a:avLst/>
            <a:gdLst/>
            <a:ahLst/>
            <a:cxnLst/>
            <a:rect r="r" b="b" t="t" l="l"/>
            <a:pathLst>
              <a:path h="6160354" w="6280439">
                <a:moveTo>
                  <a:pt x="0" y="0"/>
                </a:moveTo>
                <a:lnTo>
                  <a:pt x="6280439" y="0"/>
                </a:lnTo>
                <a:lnTo>
                  <a:pt x="6280439" y="6160355"/>
                </a:lnTo>
                <a:lnTo>
                  <a:pt x="0" y="6160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619460" y="889990"/>
            <a:ext cx="19526920" cy="116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800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EXPLORATORY DATA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14912" y="3461240"/>
            <a:ext cx="7725266" cy="168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8854" indent="-339427" lvl="1">
              <a:lnSpc>
                <a:spcPts val="4402"/>
              </a:lnSpc>
              <a:buFont typeface="Arial"/>
              <a:buChar char="•"/>
            </a:pPr>
            <a:r>
              <a:rPr lang="en-US" sz="3144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There are 1307 easy , 1169 medium , 739 basic and 222 Hard level problems.</a:t>
            </a:r>
          </a:p>
          <a:p>
            <a:pPr algn="l">
              <a:lnSpc>
                <a:spcPts val="4402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2" r="0" b="-12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-1002065">
            <a:off x="7977261" y="5143500"/>
            <a:ext cx="1827655" cy="1076655"/>
          </a:xfrm>
          <a:custGeom>
            <a:avLst/>
            <a:gdLst/>
            <a:ahLst/>
            <a:cxnLst/>
            <a:rect r="r" b="b" t="t" l="l"/>
            <a:pathLst>
              <a:path h="1076655" w="1827655">
                <a:moveTo>
                  <a:pt x="0" y="0"/>
                </a:moveTo>
                <a:lnTo>
                  <a:pt x="1827655" y="0"/>
                </a:lnTo>
                <a:lnTo>
                  <a:pt x="1827655" y="1076655"/>
                </a:lnTo>
                <a:lnTo>
                  <a:pt x="0" y="10766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91049" y="649197"/>
            <a:ext cx="16905901" cy="8677737"/>
            <a:chOff x="0" y="0"/>
            <a:chExt cx="6844249" cy="35131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44249" cy="3513128"/>
            </a:xfrm>
            <a:custGeom>
              <a:avLst/>
              <a:gdLst/>
              <a:ahLst/>
              <a:cxnLst/>
              <a:rect r="r" b="b" t="t" l="l"/>
              <a:pathLst>
                <a:path h="3513128" w="6844249">
                  <a:moveTo>
                    <a:pt x="27477" y="0"/>
                  </a:moveTo>
                  <a:lnTo>
                    <a:pt x="6816772" y="0"/>
                  </a:lnTo>
                  <a:cubicBezTo>
                    <a:pt x="6831947" y="0"/>
                    <a:pt x="6844249" y="12302"/>
                    <a:pt x="6844249" y="27477"/>
                  </a:cubicBezTo>
                  <a:lnTo>
                    <a:pt x="6844249" y="3485651"/>
                  </a:lnTo>
                  <a:cubicBezTo>
                    <a:pt x="6844249" y="3500826"/>
                    <a:pt x="6831947" y="3513128"/>
                    <a:pt x="6816772" y="3513128"/>
                  </a:cubicBezTo>
                  <a:lnTo>
                    <a:pt x="27477" y="3513128"/>
                  </a:lnTo>
                  <a:cubicBezTo>
                    <a:pt x="12302" y="3513128"/>
                    <a:pt x="0" y="3500826"/>
                    <a:pt x="0" y="3485651"/>
                  </a:cubicBezTo>
                  <a:lnTo>
                    <a:pt x="0" y="27477"/>
                  </a:lnTo>
                  <a:cubicBezTo>
                    <a:pt x="0" y="12302"/>
                    <a:pt x="12302" y="0"/>
                    <a:pt x="27477" y="0"/>
                  </a:cubicBezTo>
                  <a:close/>
                </a:path>
              </a:pathLst>
            </a:custGeom>
            <a:solidFill>
              <a:srgbClr val="84AF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844249" cy="355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63161" y="815245"/>
            <a:ext cx="5356600" cy="4172821"/>
          </a:xfrm>
          <a:custGeom>
            <a:avLst/>
            <a:gdLst/>
            <a:ahLst/>
            <a:cxnLst/>
            <a:rect r="r" b="b" t="t" l="l"/>
            <a:pathLst>
              <a:path h="4172821" w="5356600">
                <a:moveTo>
                  <a:pt x="0" y="0"/>
                </a:moveTo>
                <a:lnTo>
                  <a:pt x="5356599" y="0"/>
                </a:lnTo>
                <a:lnTo>
                  <a:pt x="5356599" y="4172821"/>
                </a:lnTo>
                <a:lnTo>
                  <a:pt x="0" y="4172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79274" y="4486459"/>
            <a:ext cx="5415945" cy="4209090"/>
          </a:xfrm>
          <a:custGeom>
            <a:avLst/>
            <a:gdLst/>
            <a:ahLst/>
            <a:cxnLst/>
            <a:rect r="r" b="b" t="t" l="l"/>
            <a:pathLst>
              <a:path h="4209090" w="5415945">
                <a:moveTo>
                  <a:pt x="0" y="0"/>
                </a:moveTo>
                <a:lnTo>
                  <a:pt x="5415945" y="0"/>
                </a:lnTo>
                <a:lnTo>
                  <a:pt x="5415945" y="4209090"/>
                </a:lnTo>
                <a:lnTo>
                  <a:pt x="0" y="4209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19289" y="2725939"/>
            <a:ext cx="1827655" cy="1076655"/>
          </a:xfrm>
          <a:custGeom>
            <a:avLst/>
            <a:gdLst/>
            <a:ahLst/>
            <a:cxnLst/>
            <a:rect r="r" b="b" t="t" l="l"/>
            <a:pathLst>
              <a:path h="1076655" w="1827655">
                <a:moveTo>
                  <a:pt x="0" y="0"/>
                </a:moveTo>
                <a:lnTo>
                  <a:pt x="1827655" y="0"/>
                </a:lnTo>
                <a:lnTo>
                  <a:pt x="1827655" y="1076655"/>
                </a:lnTo>
                <a:lnTo>
                  <a:pt x="0" y="10766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19289" y="1345297"/>
            <a:ext cx="7320085" cy="168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8854" indent="-339427" lvl="1">
              <a:lnSpc>
                <a:spcPts val="4402"/>
              </a:lnSpc>
              <a:buFont typeface="Arial"/>
              <a:buChar char="•"/>
            </a:pPr>
            <a:r>
              <a:rPr lang="en-US" sz="3144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There are 1307 easy , 1169 medium , 739 basic and 222 Hard level problems.</a:t>
            </a:r>
          </a:p>
          <a:p>
            <a:pPr algn="l">
              <a:lnSpc>
                <a:spcPts val="440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479641" y="5909664"/>
            <a:ext cx="7320085" cy="168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8854" indent="-339427" lvl="1">
              <a:lnSpc>
                <a:spcPts val="4402"/>
              </a:lnSpc>
              <a:buFont typeface="Arial"/>
              <a:buChar char="•"/>
            </a:pPr>
            <a:r>
              <a:rPr lang="en-US" sz="3144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Most of the problems have an accuracy in between 30 - 70 % .</a:t>
            </a:r>
          </a:p>
          <a:p>
            <a:pPr algn="l">
              <a:lnSpc>
                <a:spcPts val="4402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2235842">
            <a:off x="7972513" y="6693436"/>
            <a:ext cx="1827655" cy="1076655"/>
          </a:xfrm>
          <a:custGeom>
            <a:avLst/>
            <a:gdLst/>
            <a:ahLst/>
            <a:cxnLst/>
            <a:rect r="r" b="b" t="t" l="l"/>
            <a:pathLst>
              <a:path h="1076655" w="1827655">
                <a:moveTo>
                  <a:pt x="0" y="0"/>
                </a:moveTo>
                <a:lnTo>
                  <a:pt x="1827655" y="0"/>
                </a:lnTo>
                <a:lnTo>
                  <a:pt x="1827655" y="1076655"/>
                </a:lnTo>
                <a:lnTo>
                  <a:pt x="0" y="10766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22" r="0" b="-121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3399" y="576734"/>
            <a:ext cx="16905901" cy="8677737"/>
            <a:chOff x="0" y="0"/>
            <a:chExt cx="6844249" cy="35131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44249" cy="3513128"/>
            </a:xfrm>
            <a:custGeom>
              <a:avLst/>
              <a:gdLst/>
              <a:ahLst/>
              <a:cxnLst/>
              <a:rect r="r" b="b" t="t" l="l"/>
              <a:pathLst>
                <a:path h="3513128" w="6844249">
                  <a:moveTo>
                    <a:pt x="27477" y="0"/>
                  </a:moveTo>
                  <a:lnTo>
                    <a:pt x="6816772" y="0"/>
                  </a:lnTo>
                  <a:cubicBezTo>
                    <a:pt x="6831947" y="0"/>
                    <a:pt x="6844249" y="12302"/>
                    <a:pt x="6844249" y="27477"/>
                  </a:cubicBezTo>
                  <a:lnTo>
                    <a:pt x="6844249" y="3485651"/>
                  </a:lnTo>
                  <a:cubicBezTo>
                    <a:pt x="6844249" y="3500826"/>
                    <a:pt x="6831947" y="3513128"/>
                    <a:pt x="6816772" y="3513128"/>
                  </a:cubicBezTo>
                  <a:lnTo>
                    <a:pt x="27477" y="3513128"/>
                  </a:lnTo>
                  <a:cubicBezTo>
                    <a:pt x="12302" y="3513128"/>
                    <a:pt x="0" y="3500826"/>
                    <a:pt x="0" y="3485651"/>
                  </a:cubicBezTo>
                  <a:lnTo>
                    <a:pt x="0" y="27477"/>
                  </a:lnTo>
                  <a:cubicBezTo>
                    <a:pt x="0" y="12302"/>
                    <a:pt x="12302" y="0"/>
                    <a:pt x="27477" y="0"/>
                  </a:cubicBezTo>
                  <a:close/>
                </a:path>
              </a:pathLst>
            </a:custGeom>
            <a:solidFill>
              <a:srgbClr val="84AF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844249" cy="355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716699" y="3461111"/>
            <a:ext cx="1496171" cy="881381"/>
          </a:xfrm>
          <a:custGeom>
            <a:avLst/>
            <a:gdLst/>
            <a:ahLst/>
            <a:cxnLst/>
            <a:rect r="r" b="b" t="t" l="l"/>
            <a:pathLst>
              <a:path h="881381" w="1496171">
                <a:moveTo>
                  <a:pt x="0" y="0"/>
                </a:moveTo>
                <a:lnTo>
                  <a:pt x="1496171" y="0"/>
                </a:lnTo>
                <a:lnTo>
                  <a:pt x="1496171" y="881381"/>
                </a:lnTo>
                <a:lnTo>
                  <a:pt x="0" y="8813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79641" y="5909664"/>
            <a:ext cx="7320085" cy="223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8854" indent="-339427" lvl="1">
              <a:lnSpc>
                <a:spcPts val="4402"/>
              </a:lnSpc>
              <a:buFont typeface="Arial"/>
              <a:buChar char="•"/>
            </a:pPr>
            <a:r>
              <a:rPr lang="en-US" sz="3144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As the difficulty level increases , the number of submissions also increase and students tend to practise more medium level problems.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1808978">
            <a:off x="8703854" y="7726087"/>
            <a:ext cx="1420112" cy="836575"/>
          </a:xfrm>
          <a:custGeom>
            <a:avLst/>
            <a:gdLst/>
            <a:ahLst/>
            <a:cxnLst/>
            <a:rect r="r" b="b" t="t" l="l"/>
            <a:pathLst>
              <a:path h="836575" w="1420112">
                <a:moveTo>
                  <a:pt x="0" y="0"/>
                </a:moveTo>
                <a:lnTo>
                  <a:pt x="1420111" y="0"/>
                </a:lnTo>
                <a:lnTo>
                  <a:pt x="1420111" y="836574"/>
                </a:lnTo>
                <a:lnTo>
                  <a:pt x="0" y="8365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1028700"/>
            <a:ext cx="5397961" cy="4211761"/>
          </a:xfrm>
          <a:custGeom>
            <a:avLst/>
            <a:gdLst/>
            <a:ahLst/>
            <a:cxnLst/>
            <a:rect r="r" b="b" t="t" l="l"/>
            <a:pathLst>
              <a:path h="4211761" w="5397961">
                <a:moveTo>
                  <a:pt x="0" y="0"/>
                </a:moveTo>
                <a:lnTo>
                  <a:pt x="5397961" y="0"/>
                </a:lnTo>
                <a:lnTo>
                  <a:pt x="5397961" y="4211761"/>
                </a:lnTo>
                <a:lnTo>
                  <a:pt x="0" y="42117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538278" y="3901802"/>
            <a:ext cx="6090434" cy="4696439"/>
          </a:xfrm>
          <a:custGeom>
            <a:avLst/>
            <a:gdLst/>
            <a:ahLst/>
            <a:cxnLst/>
            <a:rect r="r" b="b" t="t" l="l"/>
            <a:pathLst>
              <a:path h="4696439" w="6090434">
                <a:moveTo>
                  <a:pt x="0" y="0"/>
                </a:moveTo>
                <a:lnTo>
                  <a:pt x="6090434" y="0"/>
                </a:lnTo>
                <a:lnTo>
                  <a:pt x="6090434" y="4696438"/>
                </a:lnTo>
                <a:lnTo>
                  <a:pt x="0" y="46964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716699" y="1083869"/>
            <a:ext cx="9368499" cy="223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8854" indent="-339427" lvl="1">
              <a:lnSpc>
                <a:spcPts val="4402"/>
              </a:lnSpc>
              <a:buFont typeface="Arial"/>
              <a:buChar char="•"/>
            </a:pPr>
            <a:r>
              <a:rPr lang="en-US" sz="3144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There is no strong linear relationship between accuracy and number of submissions, indicating that problem popularity is not solely driven by how easy a problem is.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22" r="0" b="-121"/>
              </a:stretch>
            </a:blipFill>
          </p:spPr>
        </p:sp>
      </p:grpSp>
    </p:spTree>
  </p:cSld>
  <p:clrMapOvr>
    <a:masterClrMapping/>
  </p:clrMapOvr>
  <p:transition spd="slow">
    <p:push dir="u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6110" y="2196158"/>
            <a:ext cx="16635781" cy="7062142"/>
            <a:chOff x="0" y="0"/>
            <a:chExt cx="6734892" cy="2859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34892" cy="2859064"/>
            </a:xfrm>
            <a:custGeom>
              <a:avLst/>
              <a:gdLst/>
              <a:ahLst/>
              <a:cxnLst/>
              <a:rect r="r" b="b" t="t" l="l"/>
              <a:pathLst>
                <a:path h="2859064" w="6734892">
                  <a:moveTo>
                    <a:pt x="27923" y="0"/>
                  </a:moveTo>
                  <a:lnTo>
                    <a:pt x="6706970" y="0"/>
                  </a:lnTo>
                  <a:cubicBezTo>
                    <a:pt x="6722390" y="0"/>
                    <a:pt x="6734892" y="12501"/>
                    <a:pt x="6734892" y="27923"/>
                  </a:cubicBezTo>
                  <a:lnTo>
                    <a:pt x="6734892" y="2831142"/>
                  </a:lnTo>
                  <a:cubicBezTo>
                    <a:pt x="6734892" y="2838547"/>
                    <a:pt x="6731950" y="2845649"/>
                    <a:pt x="6726713" y="2850886"/>
                  </a:cubicBezTo>
                  <a:cubicBezTo>
                    <a:pt x="6721477" y="2856122"/>
                    <a:pt x="6714375" y="2859064"/>
                    <a:pt x="6706970" y="2859064"/>
                  </a:cubicBezTo>
                  <a:lnTo>
                    <a:pt x="27923" y="2859064"/>
                  </a:lnTo>
                  <a:cubicBezTo>
                    <a:pt x="12501" y="2859064"/>
                    <a:pt x="0" y="2846563"/>
                    <a:pt x="0" y="2831142"/>
                  </a:cubicBezTo>
                  <a:lnTo>
                    <a:pt x="0" y="27923"/>
                  </a:lnTo>
                  <a:cubicBezTo>
                    <a:pt x="0" y="12501"/>
                    <a:pt x="12501" y="0"/>
                    <a:pt x="27923" y="0"/>
                  </a:cubicBezTo>
                  <a:close/>
                </a:path>
              </a:pathLst>
            </a:custGeom>
            <a:solidFill>
              <a:srgbClr val="84AF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34892" cy="2897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877147" y="386280"/>
            <a:ext cx="12487730" cy="1969355"/>
            <a:chOff x="0" y="0"/>
            <a:chExt cx="3288949" cy="5186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88949" cy="518678"/>
            </a:xfrm>
            <a:custGeom>
              <a:avLst/>
              <a:gdLst/>
              <a:ahLst/>
              <a:cxnLst/>
              <a:rect r="r" b="b" t="t" l="l"/>
              <a:pathLst>
                <a:path h="518678" w="3288949">
                  <a:moveTo>
                    <a:pt x="61996" y="0"/>
                  </a:moveTo>
                  <a:lnTo>
                    <a:pt x="3226953" y="0"/>
                  </a:lnTo>
                  <a:cubicBezTo>
                    <a:pt x="3261192" y="0"/>
                    <a:pt x="3288949" y="27757"/>
                    <a:pt x="3288949" y="61996"/>
                  </a:cubicBezTo>
                  <a:lnTo>
                    <a:pt x="3288949" y="456682"/>
                  </a:lnTo>
                  <a:cubicBezTo>
                    <a:pt x="3288949" y="473124"/>
                    <a:pt x="3282417" y="488893"/>
                    <a:pt x="3270791" y="500520"/>
                  </a:cubicBezTo>
                  <a:cubicBezTo>
                    <a:pt x="3259165" y="512146"/>
                    <a:pt x="3243395" y="518678"/>
                    <a:pt x="3226953" y="518678"/>
                  </a:cubicBezTo>
                  <a:lnTo>
                    <a:pt x="61996" y="518678"/>
                  </a:lnTo>
                  <a:cubicBezTo>
                    <a:pt x="27757" y="518678"/>
                    <a:pt x="0" y="490921"/>
                    <a:pt x="0" y="456682"/>
                  </a:cubicBezTo>
                  <a:lnTo>
                    <a:pt x="0" y="61996"/>
                  </a:lnTo>
                  <a:cubicBezTo>
                    <a:pt x="0" y="27757"/>
                    <a:pt x="27757" y="0"/>
                    <a:pt x="61996" y="0"/>
                  </a:cubicBezTo>
                  <a:close/>
                </a:path>
              </a:pathLst>
            </a:custGeom>
            <a:solidFill>
              <a:srgbClr val="414141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288949" cy="55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68507" y="2643113"/>
            <a:ext cx="16719493" cy="1271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sz="3565" b="true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 Null Hypothesis (Ho) : Mean accuracy is the same across all difficulty levels.</a:t>
            </a:r>
          </a:p>
          <a:p>
            <a:pPr algn="l">
              <a:lnSpc>
                <a:spcPts val="4991"/>
              </a:lnSpc>
            </a:pPr>
            <a:r>
              <a:rPr lang="en-US" b="true" sz="3565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 Alternate Hypothesis (Ha) : Mean accuracy differs across difficulty levels.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2397" y="811205"/>
            <a:ext cx="16803205" cy="116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800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HYPOTHESIS TESTING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44185" y="4200379"/>
            <a:ext cx="8953654" cy="2528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9746" indent="-384873" lvl="1">
              <a:lnSpc>
                <a:spcPts val="4991"/>
              </a:lnSpc>
              <a:buFont typeface="Arial"/>
              <a:buChar char="•"/>
            </a:pPr>
            <a:r>
              <a:rPr lang="en-US" b="true" sz="3565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Test : One - way Anova Test</a:t>
            </a:r>
          </a:p>
          <a:p>
            <a:pPr algn="l" marL="769746" indent="-384873" lvl="1">
              <a:lnSpc>
                <a:spcPts val="4991"/>
              </a:lnSpc>
              <a:buFont typeface="Arial"/>
              <a:buChar char="•"/>
            </a:pPr>
            <a:r>
              <a:rPr lang="en-US" b="true" sz="3565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confidence level = 0.95</a:t>
            </a:r>
          </a:p>
          <a:p>
            <a:pPr algn="l" marL="769746" indent="-384873" lvl="1">
              <a:lnSpc>
                <a:spcPts val="4991"/>
              </a:lnSpc>
              <a:buFont typeface="Arial"/>
              <a:buChar char="•"/>
            </a:pPr>
            <a:r>
              <a:rPr lang="en-US" b="true" sz="3565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alpha = 0.05</a:t>
            </a:r>
          </a:p>
          <a:p>
            <a:pPr algn="l" marL="769746" indent="-384873" lvl="1">
              <a:lnSpc>
                <a:spcPts val="4991"/>
              </a:lnSpc>
              <a:buFont typeface="Arial"/>
              <a:buChar char="•"/>
            </a:pPr>
            <a:r>
              <a:rPr lang="en-US" b="true" sz="3565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p = 4.409 × 10⁻²¹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08016" y="7014946"/>
            <a:ext cx="14085943" cy="1271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sz="3565" b="true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As p &lt; alpha , The Null Hypothesis (Ho) is rejected.</a:t>
            </a:r>
          </a:p>
          <a:p>
            <a:pPr algn="l">
              <a:lnSpc>
                <a:spcPts val="4991"/>
              </a:lnSpc>
            </a:pPr>
            <a:r>
              <a:rPr lang="en-US" b="true" sz="3565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Hence , The Mean accuracy significantlydiffers across difficulty levels.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2" r="0" b="-121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6110" y="2196158"/>
            <a:ext cx="16635781" cy="7219712"/>
            <a:chOff x="0" y="0"/>
            <a:chExt cx="6734892" cy="29228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34892" cy="2922856"/>
            </a:xfrm>
            <a:custGeom>
              <a:avLst/>
              <a:gdLst/>
              <a:ahLst/>
              <a:cxnLst/>
              <a:rect r="r" b="b" t="t" l="l"/>
              <a:pathLst>
                <a:path h="2922856" w="6734892">
                  <a:moveTo>
                    <a:pt x="27923" y="0"/>
                  </a:moveTo>
                  <a:lnTo>
                    <a:pt x="6706970" y="0"/>
                  </a:lnTo>
                  <a:cubicBezTo>
                    <a:pt x="6722390" y="0"/>
                    <a:pt x="6734892" y="12501"/>
                    <a:pt x="6734892" y="27923"/>
                  </a:cubicBezTo>
                  <a:lnTo>
                    <a:pt x="6734892" y="2894933"/>
                  </a:lnTo>
                  <a:cubicBezTo>
                    <a:pt x="6734892" y="2902338"/>
                    <a:pt x="6731950" y="2909441"/>
                    <a:pt x="6726713" y="2914677"/>
                  </a:cubicBezTo>
                  <a:cubicBezTo>
                    <a:pt x="6721477" y="2919914"/>
                    <a:pt x="6714375" y="2922856"/>
                    <a:pt x="6706970" y="2922856"/>
                  </a:cubicBezTo>
                  <a:lnTo>
                    <a:pt x="27923" y="2922856"/>
                  </a:lnTo>
                  <a:cubicBezTo>
                    <a:pt x="12501" y="2922856"/>
                    <a:pt x="0" y="2910354"/>
                    <a:pt x="0" y="2894933"/>
                  </a:cubicBezTo>
                  <a:lnTo>
                    <a:pt x="0" y="27923"/>
                  </a:lnTo>
                  <a:cubicBezTo>
                    <a:pt x="0" y="12501"/>
                    <a:pt x="12501" y="0"/>
                    <a:pt x="27923" y="0"/>
                  </a:cubicBezTo>
                  <a:close/>
                </a:path>
              </a:pathLst>
            </a:custGeom>
            <a:solidFill>
              <a:srgbClr val="84AF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34892" cy="2960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028916" y="363770"/>
            <a:ext cx="7625561" cy="1969355"/>
            <a:chOff x="0" y="0"/>
            <a:chExt cx="2008378" cy="5186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08378" cy="518678"/>
            </a:xfrm>
            <a:custGeom>
              <a:avLst/>
              <a:gdLst/>
              <a:ahLst/>
              <a:cxnLst/>
              <a:rect r="r" b="b" t="t" l="l"/>
              <a:pathLst>
                <a:path h="518678" w="2008378">
                  <a:moveTo>
                    <a:pt x="101526" y="0"/>
                  </a:moveTo>
                  <a:lnTo>
                    <a:pt x="1906852" y="0"/>
                  </a:lnTo>
                  <a:cubicBezTo>
                    <a:pt x="1933779" y="0"/>
                    <a:pt x="1959602" y="10696"/>
                    <a:pt x="1978642" y="29736"/>
                  </a:cubicBezTo>
                  <a:cubicBezTo>
                    <a:pt x="1997682" y="48776"/>
                    <a:pt x="2008378" y="74600"/>
                    <a:pt x="2008378" y="101526"/>
                  </a:cubicBezTo>
                  <a:lnTo>
                    <a:pt x="2008378" y="417152"/>
                  </a:lnTo>
                  <a:cubicBezTo>
                    <a:pt x="2008378" y="444078"/>
                    <a:pt x="1997682" y="469902"/>
                    <a:pt x="1978642" y="488942"/>
                  </a:cubicBezTo>
                  <a:cubicBezTo>
                    <a:pt x="1959602" y="507981"/>
                    <a:pt x="1933779" y="518678"/>
                    <a:pt x="1906852" y="518678"/>
                  </a:cubicBezTo>
                  <a:lnTo>
                    <a:pt x="101526" y="518678"/>
                  </a:lnTo>
                  <a:cubicBezTo>
                    <a:pt x="74600" y="518678"/>
                    <a:pt x="48776" y="507981"/>
                    <a:pt x="29736" y="488942"/>
                  </a:cubicBezTo>
                  <a:cubicBezTo>
                    <a:pt x="10696" y="469902"/>
                    <a:pt x="0" y="444078"/>
                    <a:pt x="0" y="417152"/>
                  </a:cubicBezTo>
                  <a:lnTo>
                    <a:pt x="0" y="101526"/>
                  </a:lnTo>
                  <a:cubicBezTo>
                    <a:pt x="0" y="74600"/>
                    <a:pt x="10696" y="48776"/>
                    <a:pt x="29736" y="29736"/>
                  </a:cubicBezTo>
                  <a:cubicBezTo>
                    <a:pt x="48776" y="10696"/>
                    <a:pt x="74600" y="0"/>
                    <a:pt x="101526" y="0"/>
                  </a:cubicBezTo>
                  <a:close/>
                </a:path>
              </a:pathLst>
            </a:custGeom>
            <a:solidFill>
              <a:srgbClr val="414141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08378" cy="55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84254" y="2451489"/>
            <a:ext cx="16475046" cy="6688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480" indent="-315740" lvl="1">
              <a:lnSpc>
                <a:spcPts val="4094"/>
              </a:lnSpc>
              <a:buFont typeface="Arial"/>
              <a:buChar char="•"/>
            </a:pPr>
            <a:r>
              <a:rPr lang="en-US" sz="2924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Medium-difficulty problems contribute the largest share of student practice, making them the central focus of interview preparation.</a:t>
            </a:r>
          </a:p>
          <a:p>
            <a:pPr algn="l" marL="631480" indent="-315740" lvl="1">
              <a:lnSpc>
                <a:spcPts val="4094"/>
              </a:lnSpc>
              <a:buFont typeface="Arial"/>
              <a:buChar char="•"/>
            </a:pPr>
            <a:r>
              <a:rPr lang="en-US" sz="2924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Accuracy consistently decreases as difficulty increases, confirming that harder problems need more guidance.</a:t>
            </a:r>
          </a:p>
          <a:p>
            <a:pPr algn="l" marL="631480" indent="-315740" lvl="1">
              <a:lnSpc>
                <a:spcPts val="4094"/>
              </a:lnSpc>
              <a:buFont typeface="Arial"/>
              <a:buChar char="•"/>
            </a:pPr>
            <a:r>
              <a:rPr lang="en-US" sz="2924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Nearly 15% of problems have very low accuracy (&lt;30%), highlighting critical areas where students struggle the most.</a:t>
            </a:r>
          </a:p>
          <a:p>
            <a:pPr algn="l" marL="631480" indent="-315740" lvl="1">
              <a:lnSpc>
                <a:spcPts val="4094"/>
              </a:lnSpc>
              <a:buFont typeface="Arial"/>
              <a:buChar char="•"/>
            </a:pPr>
            <a:r>
              <a:rPr lang="en-US" sz="2924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A small number of problems have extremely low accuracy (&lt;10%), making them clear outliers that require special instructional focus.</a:t>
            </a:r>
          </a:p>
          <a:p>
            <a:pPr algn="l" marL="631480" indent="-315740" lvl="1">
              <a:lnSpc>
                <a:spcPts val="4094"/>
              </a:lnSpc>
              <a:buFont typeface="Arial"/>
              <a:buChar char="•"/>
            </a:pPr>
            <a:r>
              <a:rPr lang="en-US" sz="2924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Company-tagged problems are mostly concentrated at the Medium difficulty level, indicating that companies emphasize strong intermediate problem-solving skills.</a:t>
            </a:r>
          </a:p>
          <a:p>
            <a:pPr algn="l" marL="631480" indent="-315740" lvl="1">
              <a:lnSpc>
                <a:spcPts val="4094"/>
              </a:lnSpc>
              <a:buFont typeface="Arial"/>
              <a:buChar char="•"/>
            </a:pPr>
            <a:r>
              <a:rPr lang="en-US" sz="2924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Company-specific problems have lower average accuracy than general problems, making them more challenging and important for guided preparation.</a:t>
            </a:r>
          </a:p>
          <a:p>
            <a:pPr algn="l" marL="631480" indent="-315740" lvl="1">
              <a:lnSpc>
                <a:spcPts val="4094"/>
              </a:lnSpc>
              <a:buFont typeface="Arial"/>
              <a:buChar char="•"/>
            </a:pPr>
            <a:r>
              <a:rPr lang="en-US" sz="2924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Students practice general problems more frequently than company-tagged problems.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61787" y="788695"/>
            <a:ext cx="5959818" cy="116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800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INSIGHTS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2" r="0" b="-121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6110" y="2196158"/>
            <a:ext cx="16905901" cy="7062142"/>
            <a:chOff x="0" y="0"/>
            <a:chExt cx="6844249" cy="2859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44249" cy="2859064"/>
            </a:xfrm>
            <a:custGeom>
              <a:avLst/>
              <a:gdLst/>
              <a:ahLst/>
              <a:cxnLst/>
              <a:rect r="r" b="b" t="t" l="l"/>
              <a:pathLst>
                <a:path h="2859064" w="6844249">
                  <a:moveTo>
                    <a:pt x="27477" y="0"/>
                  </a:moveTo>
                  <a:lnTo>
                    <a:pt x="6816772" y="0"/>
                  </a:lnTo>
                  <a:cubicBezTo>
                    <a:pt x="6831947" y="0"/>
                    <a:pt x="6844249" y="12302"/>
                    <a:pt x="6844249" y="27477"/>
                  </a:cubicBezTo>
                  <a:lnTo>
                    <a:pt x="6844249" y="2831588"/>
                  </a:lnTo>
                  <a:cubicBezTo>
                    <a:pt x="6844249" y="2838875"/>
                    <a:pt x="6841354" y="2845864"/>
                    <a:pt x="6836201" y="2851016"/>
                  </a:cubicBezTo>
                  <a:cubicBezTo>
                    <a:pt x="6831048" y="2856169"/>
                    <a:pt x="6824059" y="2859064"/>
                    <a:pt x="6816772" y="2859064"/>
                  </a:cubicBezTo>
                  <a:lnTo>
                    <a:pt x="27477" y="2859064"/>
                  </a:lnTo>
                  <a:cubicBezTo>
                    <a:pt x="12302" y="2859064"/>
                    <a:pt x="0" y="2846763"/>
                    <a:pt x="0" y="2831588"/>
                  </a:cubicBezTo>
                  <a:lnTo>
                    <a:pt x="0" y="27477"/>
                  </a:lnTo>
                  <a:cubicBezTo>
                    <a:pt x="0" y="12302"/>
                    <a:pt x="12302" y="0"/>
                    <a:pt x="27477" y="0"/>
                  </a:cubicBezTo>
                  <a:close/>
                </a:path>
              </a:pathLst>
            </a:custGeom>
            <a:solidFill>
              <a:srgbClr val="84AF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844249" cy="2897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877147" y="386280"/>
            <a:ext cx="12487730" cy="1969355"/>
            <a:chOff x="0" y="0"/>
            <a:chExt cx="3288949" cy="5186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88949" cy="518678"/>
            </a:xfrm>
            <a:custGeom>
              <a:avLst/>
              <a:gdLst/>
              <a:ahLst/>
              <a:cxnLst/>
              <a:rect r="r" b="b" t="t" l="l"/>
              <a:pathLst>
                <a:path h="518678" w="3288949">
                  <a:moveTo>
                    <a:pt x="61996" y="0"/>
                  </a:moveTo>
                  <a:lnTo>
                    <a:pt x="3226953" y="0"/>
                  </a:lnTo>
                  <a:cubicBezTo>
                    <a:pt x="3261192" y="0"/>
                    <a:pt x="3288949" y="27757"/>
                    <a:pt x="3288949" y="61996"/>
                  </a:cubicBezTo>
                  <a:lnTo>
                    <a:pt x="3288949" y="456682"/>
                  </a:lnTo>
                  <a:cubicBezTo>
                    <a:pt x="3288949" y="473124"/>
                    <a:pt x="3282417" y="488893"/>
                    <a:pt x="3270791" y="500520"/>
                  </a:cubicBezTo>
                  <a:cubicBezTo>
                    <a:pt x="3259165" y="512146"/>
                    <a:pt x="3243395" y="518678"/>
                    <a:pt x="3226953" y="518678"/>
                  </a:cubicBezTo>
                  <a:lnTo>
                    <a:pt x="61996" y="518678"/>
                  </a:lnTo>
                  <a:cubicBezTo>
                    <a:pt x="27757" y="518678"/>
                    <a:pt x="0" y="490921"/>
                    <a:pt x="0" y="456682"/>
                  </a:cubicBezTo>
                  <a:lnTo>
                    <a:pt x="0" y="61996"/>
                  </a:lnTo>
                  <a:cubicBezTo>
                    <a:pt x="0" y="27757"/>
                    <a:pt x="27757" y="0"/>
                    <a:pt x="61996" y="0"/>
                  </a:cubicBezTo>
                  <a:close/>
                </a:path>
              </a:pathLst>
            </a:custGeom>
            <a:solidFill>
              <a:srgbClr val="414141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288949" cy="55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42397" y="2534038"/>
            <a:ext cx="16719493" cy="6498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1336" indent="-395668" lvl="1">
              <a:lnSpc>
                <a:spcPts val="5131"/>
              </a:lnSpc>
              <a:buFont typeface="Arial"/>
              <a:buChar char="•"/>
            </a:pPr>
            <a:r>
              <a:rPr lang="en-US" sz="3665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Prioritize medium-difficulty problems as the core of the curriculum, since they drive the highest student practice and align closely with interview expectations.</a:t>
            </a:r>
          </a:p>
          <a:p>
            <a:pPr algn="l" marL="791336" indent="-395668" lvl="1">
              <a:lnSpc>
                <a:spcPts val="5131"/>
              </a:lnSpc>
              <a:buFont typeface="Arial"/>
              <a:buChar char="•"/>
            </a:pPr>
            <a:r>
              <a:rPr lang="en-US" sz="3665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Introduce guided instructor-led sessions for problems with high submissions but low accuracy to help students overcome repeated mistakes.</a:t>
            </a:r>
          </a:p>
          <a:p>
            <a:pPr algn="l" marL="791336" indent="-395668" lvl="1">
              <a:lnSpc>
                <a:spcPts val="5131"/>
              </a:lnSpc>
              <a:buFont typeface="Arial"/>
              <a:buChar char="•"/>
            </a:pPr>
            <a:r>
              <a:rPr lang="en-US" sz="3665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Create focused learning modules for very low-accuracy problems (&lt;30%) to address critical gaps in student understanding.</a:t>
            </a:r>
          </a:p>
          <a:p>
            <a:pPr algn="l" marL="791336" indent="-395668" lvl="1">
              <a:lnSpc>
                <a:spcPts val="5131"/>
              </a:lnSpc>
              <a:buFont typeface="Arial"/>
              <a:buChar char="•"/>
            </a:pPr>
            <a:r>
              <a:rPr lang="en-US" sz="3665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Allocate additional mentoring and practice support for company-specific problems, as they are more challenging and have lower success rates.</a:t>
            </a:r>
          </a:p>
          <a:p>
            <a:pPr algn="l" marL="791336" indent="-395668" lvl="1">
              <a:lnSpc>
                <a:spcPts val="5131"/>
              </a:lnSpc>
              <a:buFont typeface="Arial"/>
              <a:buChar char="•"/>
            </a:pPr>
            <a:r>
              <a:rPr lang="en-US" sz="3665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Design company-oriented practice tracks centered around medium-difficulty problems to better prepare students for real interview scenarios.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2397" y="811205"/>
            <a:ext cx="16803205" cy="116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800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RECOMMENDATIONS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2" r="0" b="-121"/>
              </a:stretch>
            </a:blipFill>
          </p:spPr>
        </p:sp>
      </p:grpSp>
    </p:spTree>
  </p:cSld>
  <p:clrMapOvr>
    <a:masterClrMapping/>
  </p:clrMapOvr>
  <p:transition spd="slow">
    <p:push dir="u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6110" y="2196158"/>
            <a:ext cx="16905901" cy="6374601"/>
            <a:chOff x="0" y="0"/>
            <a:chExt cx="6844249" cy="25807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44249" cy="2580717"/>
            </a:xfrm>
            <a:custGeom>
              <a:avLst/>
              <a:gdLst/>
              <a:ahLst/>
              <a:cxnLst/>
              <a:rect r="r" b="b" t="t" l="l"/>
              <a:pathLst>
                <a:path h="2580717" w="6844249">
                  <a:moveTo>
                    <a:pt x="27477" y="0"/>
                  </a:moveTo>
                  <a:lnTo>
                    <a:pt x="6816772" y="0"/>
                  </a:lnTo>
                  <a:cubicBezTo>
                    <a:pt x="6831947" y="0"/>
                    <a:pt x="6844249" y="12302"/>
                    <a:pt x="6844249" y="27477"/>
                  </a:cubicBezTo>
                  <a:lnTo>
                    <a:pt x="6844249" y="2553241"/>
                  </a:lnTo>
                  <a:cubicBezTo>
                    <a:pt x="6844249" y="2568416"/>
                    <a:pt x="6831947" y="2580717"/>
                    <a:pt x="6816772" y="2580717"/>
                  </a:cubicBezTo>
                  <a:lnTo>
                    <a:pt x="27477" y="2580717"/>
                  </a:lnTo>
                  <a:cubicBezTo>
                    <a:pt x="12302" y="2580717"/>
                    <a:pt x="0" y="2568416"/>
                    <a:pt x="0" y="2553241"/>
                  </a:cubicBezTo>
                  <a:lnTo>
                    <a:pt x="0" y="27477"/>
                  </a:lnTo>
                  <a:cubicBezTo>
                    <a:pt x="0" y="12302"/>
                    <a:pt x="12302" y="0"/>
                    <a:pt x="27477" y="0"/>
                  </a:cubicBezTo>
                  <a:close/>
                </a:path>
              </a:pathLst>
            </a:custGeom>
            <a:solidFill>
              <a:srgbClr val="84AF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844249" cy="2618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77133" y="633890"/>
            <a:ext cx="9133734" cy="1969355"/>
            <a:chOff x="0" y="0"/>
            <a:chExt cx="2405592" cy="5186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5593" cy="518678"/>
            </a:xfrm>
            <a:custGeom>
              <a:avLst/>
              <a:gdLst/>
              <a:ahLst/>
              <a:cxnLst/>
              <a:rect r="r" b="b" t="t" l="l"/>
              <a:pathLst>
                <a:path h="518678" w="2405593">
                  <a:moveTo>
                    <a:pt x="84762" y="0"/>
                  </a:moveTo>
                  <a:lnTo>
                    <a:pt x="2320831" y="0"/>
                  </a:lnTo>
                  <a:cubicBezTo>
                    <a:pt x="2343311" y="0"/>
                    <a:pt x="2364870" y="8930"/>
                    <a:pt x="2380766" y="24826"/>
                  </a:cubicBezTo>
                  <a:cubicBezTo>
                    <a:pt x="2396662" y="40722"/>
                    <a:pt x="2405593" y="62282"/>
                    <a:pt x="2405593" y="84762"/>
                  </a:cubicBezTo>
                  <a:lnTo>
                    <a:pt x="2405593" y="433916"/>
                  </a:lnTo>
                  <a:cubicBezTo>
                    <a:pt x="2405593" y="456396"/>
                    <a:pt x="2396662" y="477956"/>
                    <a:pt x="2380766" y="493852"/>
                  </a:cubicBezTo>
                  <a:cubicBezTo>
                    <a:pt x="2364870" y="509748"/>
                    <a:pt x="2343311" y="518678"/>
                    <a:pt x="2320831" y="518678"/>
                  </a:cubicBezTo>
                  <a:lnTo>
                    <a:pt x="84762" y="518678"/>
                  </a:lnTo>
                  <a:cubicBezTo>
                    <a:pt x="37949" y="518678"/>
                    <a:pt x="0" y="480729"/>
                    <a:pt x="0" y="433916"/>
                  </a:cubicBezTo>
                  <a:lnTo>
                    <a:pt x="0" y="84762"/>
                  </a:lnTo>
                  <a:cubicBezTo>
                    <a:pt x="0" y="62282"/>
                    <a:pt x="8930" y="40722"/>
                    <a:pt x="24826" y="24826"/>
                  </a:cubicBezTo>
                  <a:cubicBezTo>
                    <a:pt x="40722" y="8930"/>
                    <a:pt x="62282" y="0"/>
                    <a:pt x="84762" y="0"/>
                  </a:cubicBezTo>
                  <a:close/>
                </a:path>
              </a:pathLst>
            </a:custGeom>
            <a:solidFill>
              <a:srgbClr val="414141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05592" cy="55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9314" y="2759874"/>
            <a:ext cx="16719493" cy="581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9" indent="-442594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This project uses data-driven analysis to understand student practice patterns, problem difficulty, accuracy, and company relevance in interview preparation. The results show clear differences in performance and engagement across difficulty levels and company-tagged problems.</a:t>
            </a:r>
          </a:p>
          <a:p>
            <a:pPr algn="l" marL="885189" indent="-442594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These insights help coaching institutes focus on high-impact problems, address critical learning gaps, and better align training programs with real interview requirements.</a:t>
            </a:r>
          </a:p>
          <a:p>
            <a:pPr algn="l">
              <a:lnSpc>
                <a:spcPts val="573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42397" y="1171575"/>
            <a:ext cx="16803205" cy="116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800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CONCLUSION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2" r="0" b="-121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97803" y="2319680"/>
            <a:ext cx="14092395" cy="5647641"/>
            <a:chOff x="0" y="0"/>
            <a:chExt cx="3711577" cy="14874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11577" cy="1487444"/>
            </a:xfrm>
            <a:custGeom>
              <a:avLst/>
              <a:gdLst/>
              <a:ahLst/>
              <a:cxnLst/>
              <a:rect r="r" b="b" t="t" l="l"/>
              <a:pathLst>
                <a:path h="1487444" w="3711577">
                  <a:moveTo>
                    <a:pt x="54937" y="0"/>
                  </a:moveTo>
                  <a:lnTo>
                    <a:pt x="3656640" y="0"/>
                  </a:lnTo>
                  <a:cubicBezTo>
                    <a:pt x="3671211" y="0"/>
                    <a:pt x="3685184" y="5788"/>
                    <a:pt x="3695487" y="16091"/>
                  </a:cubicBezTo>
                  <a:cubicBezTo>
                    <a:pt x="3705789" y="26393"/>
                    <a:pt x="3711577" y="40367"/>
                    <a:pt x="3711577" y="54937"/>
                  </a:cubicBezTo>
                  <a:lnTo>
                    <a:pt x="3711577" y="1432508"/>
                  </a:lnTo>
                  <a:cubicBezTo>
                    <a:pt x="3711577" y="1462848"/>
                    <a:pt x="3686981" y="1487444"/>
                    <a:pt x="3656640" y="1487444"/>
                  </a:cubicBezTo>
                  <a:lnTo>
                    <a:pt x="54937" y="1487444"/>
                  </a:lnTo>
                  <a:cubicBezTo>
                    <a:pt x="24596" y="1487444"/>
                    <a:pt x="0" y="1462848"/>
                    <a:pt x="0" y="1432508"/>
                  </a:cubicBezTo>
                  <a:lnTo>
                    <a:pt x="0" y="54937"/>
                  </a:lnTo>
                  <a:cubicBezTo>
                    <a:pt x="0" y="24596"/>
                    <a:pt x="24596" y="0"/>
                    <a:pt x="54937" y="0"/>
                  </a:cubicBezTo>
                  <a:close/>
                </a:path>
              </a:pathLst>
            </a:custGeom>
            <a:solidFill>
              <a:srgbClr val="414141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11577" cy="1525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25359" y="1028700"/>
            <a:ext cx="3939099" cy="3156203"/>
          </a:xfrm>
          <a:custGeom>
            <a:avLst/>
            <a:gdLst/>
            <a:ahLst/>
            <a:cxnLst/>
            <a:rect r="r" b="b" t="t" l="l"/>
            <a:pathLst>
              <a:path h="3156203" w="3939099">
                <a:moveTo>
                  <a:pt x="0" y="0"/>
                </a:moveTo>
                <a:lnTo>
                  <a:pt x="3939099" y="0"/>
                </a:lnTo>
                <a:lnTo>
                  <a:pt x="3939099" y="3156203"/>
                </a:lnTo>
                <a:lnTo>
                  <a:pt x="0" y="31562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36566" y="3096193"/>
            <a:ext cx="12414868" cy="372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19"/>
              </a:lnSpc>
            </a:pPr>
            <a:r>
              <a:rPr lang="en-US" sz="12964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ANY </a:t>
            </a:r>
          </a:p>
          <a:p>
            <a:pPr algn="ctr">
              <a:lnSpc>
                <a:spcPts val="14519"/>
              </a:lnSpc>
            </a:pPr>
            <a:r>
              <a:rPr lang="en-US" sz="12964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QUERIES?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2" r="0" b="-121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97803" y="2319680"/>
            <a:ext cx="14092395" cy="5647641"/>
            <a:chOff x="0" y="0"/>
            <a:chExt cx="3711577" cy="14874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11577" cy="1487444"/>
            </a:xfrm>
            <a:custGeom>
              <a:avLst/>
              <a:gdLst/>
              <a:ahLst/>
              <a:cxnLst/>
              <a:rect r="r" b="b" t="t" l="l"/>
              <a:pathLst>
                <a:path h="1487444" w="3711577">
                  <a:moveTo>
                    <a:pt x="54937" y="0"/>
                  </a:moveTo>
                  <a:lnTo>
                    <a:pt x="3656640" y="0"/>
                  </a:lnTo>
                  <a:cubicBezTo>
                    <a:pt x="3671211" y="0"/>
                    <a:pt x="3685184" y="5788"/>
                    <a:pt x="3695487" y="16091"/>
                  </a:cubicBezTo>
                  <a:cubicBezTo>
                    <a:pt x="3705789" y="26393"/>
                    <a:pt x="3711577" y="40367"/>
                    <a:pt x="3711577" y="54937"/>
                  </a:cubicBezTo>
                  <a:lnTo>
                    <a:pt x="3711577" y="1432508"/>
                  </a:lnTo>
                  <a:cubicBezTo>
                    <a:pt x="3711577" y="1462848"/>
                    <a:pt x="3686981" y="1487444"/>
                    <a:pt x="3656640" y="1487444"/>
                  </a:cubicBezTo>
                  <a:lnTo>
                    <a:pt x="54937" y="1487444"/>
                  </a:lnTo>
                  <a:cubicBezTo>
                    <a:pt x="24596" y="1487444"/>
                    <a:pt x="0" y="1462848"/>
                    <a:pt x="0" y="1432508"/>
                  </a:cubicBezTo>
                  <a:lnTo>
                    <a:pt x="0" y="54937"/>
                  </a:lnTo>
                  <a:cubicBezTo>
                    <a:pt x="0" y="24596"/>
                    <a:pt x="24596" y="0"/>
                    <a:pt x="54937" y="0"/>
                  </a:cubicBezTo>
                  <a:close/>
                </a:path>
              </a:pathLst>
            </a:custGeom>
            <a:solidFill>
              <a:srgbClr val="414141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11577" cy="1525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39156" y="4244205"/>
            <a:ext cx="12414868" cy="188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19"/>
              </a:lnSpc>
            </a:pPr>
            <a:r>
              <a:rPr lang="en-US" sz="12964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Thank you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681830" y="8740783"/>
            <a:ext cx="3318575" cy="1377209"/>
            <a:chOff x="0" y="0"/>
            <a:chExt cx="4424767" cy="18362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24807" cy="1836293"/>
            </a:xfrm>
            <a:custGeom>
              <a:avLst/>
              <a:gdLst/>
              <a:ahLst/>
              <a:cxnLst/>
              <a:rect r="r" b="b" t="t" l="l"/>
              <a:pathLst>
                <a:path h="1836293" w="4424807">
                  <a:moveTo>
                    <a:pt x="0" y="0"/>
                  </a:moveTo>
                  <a:lnTo>
                    <a:pt x="4424807" y="0"/>
                  </a:lnTo>
                  <a:lnTo>
                    <a:pt x="4424807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2" r="0" b="-121"/>
              </a:stretch>
            </a:blipFill>
          </p:spPr>
        </p:sp>
      </p:grp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DAG_tZMjuSk</dc:identifier>
  <dcterms:modified xsi:type="dcterms:W3CDTF">2011-08-01T06:04:30Z</dcterms:modified>
  <cp:revision>1</cp:revision>
  <dc:title>EDA gfg PROJECT</dc:title>
</cp:coreProperties>
</file>